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ff4c2ccec54f71" /><Relationship Type="http://schemas.openxmlformats.org/officeDocument/2006/relationships/extended-properties" Target="/docProps/app.xml" Id="Rf372a908b85e4476" /><Relationship Type="http://schemas.openxmlformats.org/officeDocument/2006/relationships/officeDocument" Target="/ppt/presentation.xml" Id="R6fcdc19d610f45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27d0db09684c7b"/>
  </p:sldMasterIdLst>
  <p:notesMasterIdLst>
    <p:notesMasterId xmlns:r="http://schemas.openxmlformats.org/officeDocument/2006/relationships" r:id="R3490ea5d76914c21"/>
  </p:notesMasterIdLst>
  <p:sldIdLst>
    <p:sldId xmlns:r="http://schemas.openxmlformats.org/officeDocument/2006/relationships" id="256" r:id="R892a632e9e6a442c"/>
    <p:sldId xmlns:r="http://schemas.openxmlformats.org/officeDocument/2006/relationships" id="257" r:id="R621d291df280460f"/>
    <p:sldId xmlns:r="http://schemas.openxmlformats.org/officeDocument/2006/relationships" id="258" r:id="R3a6b9d39e9b8440a"/>
    <p:sldId xmlns:r="http://schemas.openxmlformats.org/officeDocument/2006/relationships" id="259" r:id="R7ed1210e565b4e8a"/>
    <p:sldId xmlns:r="http://schemas.openxmlformats.org/officeDocument/2006/relationships" id="260" r:id="Rce606b429aa748fd"/>
    <p:sldId xmlns:r="http://schemas.openxmlformats.org/officeDocument/2006/relationships" id="261" r:id="R196445e620514091"/>
    <p:sldId xmlns:r="http://schemas.openxmlformats.org/officeDocument/2006/relationships" id="262" r:id="Rc109082193b44516"/>
    <p:sldId xmlns:r="http://schemas.openxmlformats.org/officeDocument/2006/relationships" id="263" r:id="R3de377a948524cd0"/>
    <p:sldId xmlns:r="http://schemas.openxmlformats.org/officeDocument/2006/relationships" id="264" r:id="R24eb44f6ddb64ee5"/>
    <p:sldId xmlns:r="http://schemas.openxmlformats.org/officeDocument/2006/relationships" id="265" r:id="Rda20b9dff0634f37"/>
    <p:sldId xmlns:r="http://schemas.openxmlformats.org/officeDocument/2006/relationships" id="266" r:id="Rc1b55dce89ac44d3"/>
    <p:sldId xmlns:r="http://schemas.openxmlformats.org/officeDocument/2006/relationships" id="267" r:id="R4372eb008a144e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832ed295474642" /><Relationship Type="http://schemas.openxmlformats.org/officeDocument/2006/relationships/slideMaster" Target="/ppt/slideMasters/slideMaster1.xml" Id="R6227d0db09684c7b" /><Relationship Type="http://schemas.openxmlformats.org/officeDocument/2006/relationships/notesMaster" Target="/ppt/notesMasters/notesMaster1.xml" Id="R3490ea5d76914c21" /><Relationship Type="http://schemas.openxmlformats.org/officeDocument/2006/relationships/presProps" Target="/ppt/presProps.xml" Id="R84d5123e233e48df" /><Relationship Type="http://schemas.openxmlformats.org/officeDocument/2006/relationships/tableStyles" Target="/ppt/tableStyles.xml" Id="Reb9625fa578b4256" /><Relationship Type="http://schemas.openxmlformats.org/officeDocument/2006/relationships/slide" Target="/ppt/slides/slide1.xml" Id="R892a632e9e6a442c" /><Relationship Type="http://schemas.openxmlformats.org/officeDocument/2006/relationships/slide" Target="/ppt/slides/slide2.xml" Id="R621d291df280460f" /><Relationship Type="http://schemas.openxmlformats.org/officeDocument/2006/relationships/slide" Target="/ppt/slides/slide3.xml" Id="R3a6b9d39e9b8440a" /><Relationship Type="http://schemas.openxmlformats.org/officeDocument/2006/relationships/slide" Target="/ppt/slides/slide4.xml" Id="R7ed1210e565b4e8a" /><Relationship Type="http://schemas.openxmlformats.org/officeDocument/2006/relationships/slide" Target="/ppt/slides/slide5.xml" Id="Rce606b429aa748fd" /><Relationship Type="http://schemas.openxmlformats.org/officeDocument/2006/relationships/slide" Target="/ppt/slides/slide6.xml" Id="R196445e620514091" /><Relationship Type="http://schemas.openxmlformats.org/officeDocument/2006/relationships/slide" Target="/ppt/slides/slide7.xml" Id="Rc109082193b44516" /><Relationship Type="http://schemas.openxmlformats.org/officeDocument/2006/relationships/slide" Target="/ppt/slides/slide8.xml" Id="R3de377a948524cd0" /><Relationship Type="http://schemas.openxmlformats.org/officeDocument/2006/relationships/slide" Target="/ppt/slides/slide9.xml" Id="R24eb44f6ddb64ee5" /><Relationship Type="http://schemas.openxmlformats.org/officeDocument/2006/relationships/slide" Target="/ppt/slides/slide10.xml" Id="Rda20b9dff0634f37" /><Relationship Type="http://schemas.openxmlformats.org/officeDocument/2006/relationships/slide" Target="/ppt/slides/slide11.xml" Id="Rc1b55dce89ac44d3" /><Relationship Type="http://schemas.openxmlformats.org/officeDocument/2006/relationships/slide" Target="/ppt/slides/slide12.xml" Id="R4372eb008a144e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a31c0892694d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00be5767ec460c" /><Relationship Type="http://schemas.openxmlformats.org/officeDocument/2006/relationships/notesMaster" Target="/ppt/notesMasters/notesMaster1.xml" Id="R2ed99a44417a43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67e092df5d4118" /><Relationship Type="http://schemas.openxmlformats.org/officeDocument/2006/relationships/notesMaster" Target="/ppt/notesMasters/notesMaster1.xml" Id="Rd0bd5698cd3d48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d59ffe111d4f7e" /><Relationship Type="http://schemas.openxmlformats.org/officeDocument/2006/relationships/notesMaster" Target="/ppt/notesMasters/notesMaster1.xml" Id="Rb1043237f5c4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daa423a7204e29" /><Relationship Type="http://schemas.openxmlformats.org/officeDocument/2006/relationships/notesMaster" Target="/ppt/notesMasters/notesMaster1.xml" Id="R0c99a433075d41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efd5a472734c12" /><Relationship Type="http://schemas.openxmlformats.org/officeDocument/2006/relationships/notesMaster" Target="/ppt/notesMasters/notesMaster1.xml" Id="R40985dc6993047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12aafd2e3473c" /><Relationship Type="http://schemas.openxmlformats.org/officeDocument/2006/relationships/notesMaster" Target="/ppt/notesMasters/notesMaster1.xml" Id="R920a6c83669b48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12a17f09dc4df8" /><Relationship Type="http://schemas.openxmlformats.org/officeDocument/2006/relationships/notesMaster" Target="/ppt/notesMasters/notesMaster1.xml" Id="Rf640b11289fd40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3f5b77f83143e1" /><Relationship Type="http://schemas.openxmlformats.org/officeDocument/2006/relationships/notesMaster" Target="/ppt/notesMasters/notesMaster1.xml" Id="Rae896c822f3c40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bcb20cbefd4201" /><Relationship Type="http://schemas.openxmlformats.org/officeDocument/2006/relationships/notesMaster" Target="/ppt/notesMasters/notesMaster1.xml" Id="Redf0113274444a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23f2fdfa6d45b9" /><Relationship Type="http://schemas.openxmlformats.org/officeDocument/2006/relationships/notesMaster" Target="/ppt/notesMasters/notesMaster1.xml" Id="Ra4e4377c146543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ed97c72acd4b2a" /><Relationship Type="http://schemas.openxmlformats.org/officeDocument/2006/relationships/notesMaster" Target="/ppt/notesMasters/notesMaster1.xml" Id="R7b61563a706b4f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0ea03947f948a4" /><Relationship Type="http://schemas.openxmlformats.org/officeDocument/2006/relationships/notesMaster" Target="/ppt/notesMasters/notesMaster1.xml" Id="R209277e0cb6e43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35–40 seconds.</a:t>
            </a:r>
          </a:p>
          <a:p xmlns:a="http://schemas.openxmlformats.org/drawingml/2006/main">
            <a:r>
              <a:t>Introduce the project as a software-engineering response to fragmented family-fund administration.</a:t>
            </a:r>
          </a:p>
          <a:p xmlns:a="http://schemas.openxmlformats.org/drawingml/2006/main">
            <a:r>
              <a:t>State the evidence rule early: the conventional system and predictive pipeline are discussed separately from claims that need hosted services or authorised private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docs/project-report/preliminary-pages.md</a:t>
            </a:r>
          </a:p>
          <a:p xmlns:a="http://schemas.openxmlformats.org/drawingml/2006/main">
            <a:r>
              <a:t>- docs/project-report/chapter-1.md</a:t>
            </a:r>
          </a:p>
          <a:p xmlns:a="http://schemas.openxmlformats.org/drawingml/2006/main">
            <a:r>
              <a:t>- public/app-icon-1024.png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</a:t>
            </a:r>
          </a:p>
          <a:p xmlns:a="http://schemas.openxmlformats.org/drawingml/2006/main">
            <a:r>
              <a:t>Explain that the problem is not simply a lack of digital payment. It is the absence of one governed record linking obligations, receipts, expenses and reports.</a:t>
            </a:r>
          </a:p>
          <a:p xmlns:a="http://schemas.openxmlformats.org/drawingml/2006/main">
            <a:r>
              <a:t>Use the workflow to show why disputes are resolved by memory when partial payments and corrections are recorded inconsistently.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docs/project-report/chapter-1.md</a:t>
            </a:r>
          </a:p>
          <a:p xmlns:a="http://schemas.openxmlformats.org/drawingml/2006/main">
            <a:r>
              <a:t>- docs/project-report/chapter-3.md</a:t>
            </a:r>
          </a:p>
          <a:p xmlns:a="http://schemas.openxmlformats.org/drawingml/2006/main">
            <a:r>
              <a:t>- docs/project-report/diagrams/chapter-3-existing-system-flow.png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</a:t>
            </a:r>
          </a:p>
          <a:p xmlns:a="http://schemas.openxmlformats.org/drawingml/2006/main">
            <a:r>
              <a:t>Compare system categories, not marketing claims. Savings apps, spreadsheets and cooperative platforms each address part of the need.</a:t>
            </a:r>
          </a:p>
          <a:p xmlns:a="http://schemas.openxmlformats.org/drawingml/2006/main">
            <a:r>
              <a:t>Emphasise that the contribution rule, family-specific role and allocation audit trail must work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docs/project-report/chapter-1.md</a:t>
            </a:r>
          </a:p>
          <a:p xmlns:a="http://schemas.openxmlformats.org/drawingml/2006/main">
            <a:r>
              <a:t>- docs/project-report/chapter-2.md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</a:t>
            </a:r>
          </a:p>
          <a:p xmlns:a="http://schemas.openxmlformats.org/drawingml/2006/main">
            <a:r>
              <a:t>Present the objectives as a chain: understand the domain, design the controls, implement the system, govern intelligent features and test the result.</a:t>
            </a:r>
          </a:p>
          <a:p xmlns:a="http://schemas.openxmlformats.org/drawingml/2006/main">
            <a:r>
              <a:t>Objective five is deliberately conditional: evaluation requires an authorised historical dataset rather than synthetic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</a:t>
            </a:r>
          </a:p>
          <a:p xmlns:a="http://schemas.openxmlformats.org/drawingml/2006/main">
            <a:r>
              <a:t>Describe the method as applied and iterative, not as an abstract Agile checklist.</a:t>
            </a:r>
          </a:p>
          <a:p xmlns:a="http://schemas.openxmlformats.org/drawingml/2006/main">
            <a:r>
              <a:t>Point out the reconciliation extension as an example of honest scope evolution: it was valuable, but it was documented after the original baseline rather than silently rewritten into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docs/project-report/chapter-3.md</a:t>
            </a:r>
          </a:p>
          <a:p xmlns:a="http://schemas.openxmlformats.org/drawingml/2006/main">
            <a:r>
              <a:t>- docs/project-report/chapter-4.md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55 seconds.</a:t>
            </a:r>
          </a:p>
          <a:p xmlns:a="http://schemas.openxmlformats.org/drawingml/2006/main">
            <a:r>
              <a:t>Follow the request from the user interface into Laravel, where the active family, policy and subscription context are enforced.</a:t>
            </a:r>
          </a:p>
          <a:p xmlns:a="http://schemas.openxmlformats.org/drawingml/2006/main">
            <a:r>
              <a:t>Explain that providers attest to payment, delivery or generated text; they do not own authorisation or the financial ledger.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docs/project-report/chapter-3.md</a:t>
            </a:r>
          </a:p>
          <a:p xmlns:a="http://schemas.openxmlformats.org/drawingml/2006/main">
            <a:r>
              <a:t>- docs/project-report/chapter-4.md</a:t>
            </a:r>
          </a:p>
          <a:p xmlns:a="http://schemas.openxmlformats.org/drawingml/2006/main">
            <a:r>
              <a:t>- docs/project-report/diagrams/slide-05-system-architecture-full-trimmed.png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55 seconds.</a:t>
            </a:r>
          </a:p>
          <a:p xmlns:a="http://schemas.openxmlformats.org/drawingml/2006/main">
            <a:r>
              <a:t>Use a partial or lump-sum payment example: the oldest unpaid period is reduced first, and the service moves forward only when that balance is settled.</a:t>
            </a:r>
          </a:p>
          <a:p xmlns:a="http://schemas.openxmlformats.org/drawingml/2006/main">
            <a:r>
              <a:t>This rule is shared by manual and online payments, which keeps reports and member statements 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docs/project-report/chapter-3.md</a:t>
            </a:r>
          </a:p>
          <a:p xmlns:a="http://schemas.openxmlformats.org/drawingml/2006/main">
            <a:r>
              <a:t>- docs/project-report/chapter-4.md</a:t>
            </a:r>
          </a:p>
          <a:p xmlns:a="http://schemas.openxmlformats.org/drawingml/2006/main">
            <a:r>
              <a:t>- docs/project-report/diagrams/panels/slide-07-payment-allocation-flowchart-panel-2.png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55 seconds.</a:t>
            </a:r>
          </a:p>
          <a:p xmlns:a="http://schemas.openxmlformats.org/drawingml/2006/main">
            <a:r>
              <a:t>Contrast the two intelligent features. The assistant is a governed interface over application tools; the predictor is an advisory classifier with activation and history gates.</a:t>
            </a:r>
          </a:p>
          <a:p xmlns:a="http://schemas.openxmlformats.org/drawingml/2006/main">
            <a:r>
              <a:t>Make the safety boundary explicit: neither feature can create a financial event or automatic reminder by itself.</a:t>
            </a:r>
          </a:p>
          <a:p xmlns:a="http://schemas.openxmlformats.org/drawingml/2006/main">
            <a:r>
              <a:t>Do not claim live provider usefulness or predictive accuracy; those experiments were not executed.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docs/project-report/chapter-3.md</a:t>
            </a:r>
          </a:p>
          <a:p xmlns:a="http://schemas.openxmlformats.org/drawingml/2006/main">
            <a:r>
              <a:t>- docs/project-report/chapter-4.md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55 seconds.</a:t>
            </a:r>
          </a:p>
          <a:p xmlns:a="http://schemas.openxmlformats.org/drawingml/2006/main">
            <a:r>
              <a:t>Report the final canonical local Laravel rerun from 15 August 2026 first: 1,421 Pest tests, 6,904 assertions, 100.0% PHP coverage and 22.209 seconds Pest duration.</a:t>
            </a:r>
          </a:p>
          <a:p xmlns:a="http://schemas.openxmlformats.org/drawingml/2006/main">
            <a:r>
              <a:t>Then report 66 Python tests at 100% statement coverage and the focused PostgreSQL and Chromium boundary runs.</a:t>
            </a:r>
          </a:p>
          <a:p xmlns:a="http://schemas.openxmlformats.org/drawingml/2006/main">
            <a:r>
              <a:t>Clarify that focused runs overlap the canonical suite. These are not summed, and there is no accepted final hosted SHA.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55 seconds.</a:t>
            </a:r>
          </a:p>
          <a:p xmlns:a="http://schemas.openxmlformats.org/drawingml/2006/main">
            <a:r>
              <a:t>Read the verdict pattern rather than every cell. Literature and design objectives are met within their stated scope.</a:t>
            </a:r>
          </a:p>
          <a:p xmlns:a="http://schemas.openxmlformats.org/drawingml/2006/main">
            <a:r>
              <a:t>Implementation, AI and testing are partially met because external and hosted evidence is incomplete.</a:t>
            </a:r>
          </a:p>
          <a:p xmlns:a="http://schemas.openxmlformats.org/drawingml/2006/main">
            <a:r>
              <a:t>The predictive engineering path exists, but the evaluation itself is Not Executed because the authorised dataset was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docs/project-report/chapter-4.md</a:t>
            </a:r>
          </a:p>
          <a:p xmlns:a="http://schemas.openxmlformats.org/drawingml/2006/main">
            <a:r>
              <a:t>- docs/project-report/chapter-5.md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</a:t>
            </a:r>
          </a:p>
          <a:p xmlns:a="http://schemas.openxmlformats.org/drawingml/2006/main">
            <a:r>
              <a:t>A complete 20-image redacted synthetic-tenant interface set now covers Figures 4.1a–c through 4.14; interface evidence is no longer listed as a gap.</a:t>
            </a:r>
          </a:p>
          <a:p xmlns:a="http://schemas.openxmlformats.org/drawingml/2006/main">
            <a:r>
              <a:t>State the remaining limitations directly. Live external/provider, hosted, performance, recovery and authorised-data model evidence remain pending.</a:t>
            </a:r>
          </a:p>
          <a:p xmlns:a="http://schemas.openxmlformats.org/drawingml/2006/main">
            <a:r>
              <a:t>The predictive software can be tested without claiming that a useful real-world model has been trained.</a:t>
            </a:r>
          </a:p>
          <a:p xmlns:a="http://schemas.openxmlformats.org/drawingml/2006/main">
            <a:r>
              <a:t>These gaps define the next acceptance work and prevent overstatement in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docs/project-report/chapter-4.md</a:t>
            </a:r>
          </a:p>
          <a:p xmlns:a="http://schemas.openxmlformats.org/drawingml/2006/main">
            <a:r>
              <a:t>- docs/project-report/chapter-5.md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35–40 seconds, then invite questions.</a:t>
            </a:r>
          </a:p>
          <a:p xmlns:a="http://schemas.openxmlformats.org/drawingml/2006/main">
            <a:r>
              <a:t>Resolve the opening problem: one governed system can replace fragmented family-fund records and apply consistent rules.</a:t>
            </a:r>
          </a:p>
          <a:p xmlns:a="http://schemas.openxmlformats.org/drawingml/2006/main">
            <a:r>
              <a:t>Close with the measured verdict. The core implementation is locally supported; operational and predictive claims remain gated until their declared evidence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docs/project-report/chapter-5.md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2f20be51140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02901493334b11" /><Relationship Type="http://schemas.openxmlformats.org/officeDocument/2006/relationships/slideLayout" Target="/ppt/slideLayouts/slideLayout1.xml" Id="R10f0c6a4a24f40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0c6a4a24f40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80702122b41ab" /><Relationship Type="http://schemas.openxmlformats.org/officeDocument/2006/relationships/image" Target="/ppt/media/image.png" Id="R051b25b4b10c463c" /><Relationship Type="http://schemas.openxmlformats.org/officeDocument/2006/relationships/notesSlide" Target="/ppt/notesSlides/notesSlide1.xml" Id="Raa9430ab75c441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0d6d1b36a4be8" /><Relationship Type="http://schemas.openxmlformats.org/officeDocument/2006/relationships/image" Target="/ppt/media/image2.png" Id="R980ef2b814b74e6e" /><Relationship Type="http://schemas.openxmlformats.org/officeDocument/2006/relationships/notesSlide" Target="/ppt/notesSlides/notesSlide2.xml" Id="R79842cf684a747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947c98aa34b8f" /><Relationship Type="http://schemas.openxmlformats.org/officeDocument/2006/relationships/notesSlide" Target="/ppt/notesSlides/notesSlide3.xml" Id="R082469921bb043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d1b52131243b0" /><Relationship Type="http://schemas.openxmlformats.org/officeDocument/2006/relationships/notesSlide" Target="/ppt/notesSlides/notesSlide4.xml" Id="Rf9985fb8354447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30cf6511f4dbc" /><Relationship Type="http://schemas.openxmlformats.org/officeDocument/2006/relationships/notesSlide" Target="/ppt/notesSlides/notesSlide5.xml" Id="R76bfe9d5595e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9d697ad3a4a15" /><Relationship Type="http://schemas.openxmlformats.org/officeDocument/2006/relationships/image" Target="/ppt/media/image3.png" Id="R7b1c7dd77f564537" /><Relationship Type="http://schemas.openxmlformats.org/officeDocument/2006/relationships/notesSlide" Target="/ppt/notesSlides/notesSlide6.xml" Id="Rcb7c33ceec4341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bccaa7c3d46bc" /><Relationship Type="http://schemas.openxmlformats.org/officeDocument/2006/relationships/image" Target="/ppt/media/image4.png" Id="Rdbe449fa9c724b21" /><Relationship Type="http://schemas.openxmlformats.org/officeDocument/2006/relationships/notesSlide" Target="/ppt/notesSlides/notesSlide7.xml" Id="Rf5dc867e814f46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a60a5d4e54e8d" /><Relationship Type="http://schemas.openxmlformats.org/officeDocument/2006/relationships/notesSlide" Target="/ppt/notesSlides/notesSlide8.xml" Id="R23678ba378ab4d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3880d4db14e00" /><Relationship Type="http://schemas.openxmlformats.org/officeDocument/2006/relationships/notesSlide" Target="/ppt/notesSlides/notesSlide9.xml" Id="R296712c4841c4c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152b1177b4ed1" /><Relationship Type="http://schemas.openxmlformats.org/officeDocument/2006/relationships/notesSlide" Target="/ppt/notesSlides/notesSlide10.xml" Id="Rcbf8c2593b374b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a9d302db548f8" /><Relationship Type="http://schemas.openxmlformats.org/officeDocument/2006/relationships/notesSlide" Target="/ppt/notesSlides/notesSlide11.xml" Id="R48afff1bb0254f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de8d111ad4f77" /><Relationship Type="http://schemas.openxmlformats.org/officeDocument/2006/relationships/notesSlide" Target="/ppt/notesSlides/notesSlide12.xml" Id="R05cb20da8fde42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6FCB8-B63A-4A6A-ADC1-3A31D129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MIVA OPEN UNIVERSITY  ·  FACULTY OF COMPUTING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3636D9-6E51-4F93-9877-2C3E3C2F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FamilyFunds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8E9A7-9167-4E73-B294-0D0EC6FC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981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Design and implementation of an AI-enhanced multi-tenant family fund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8281A-C900-47DE-A01E-C6801194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Predictive analytics and intelligent reporting remain governed by explicit evidence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0B1E5-818A-420E-A28B-ABB995DF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050"/>
            <a:ext cx="4610100" cy="55054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E7F7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b25b4b10c463c"/>
          <a:stretch xmlns:a="http://schemas.openxmlformats.org/drawingml/2006/main"/>
        </p:blipFill>
        <p:spPr>
          <a:xfrm xmlns:a="http://schemas.openxmlformats.org/drawingml/2006/main">
            <a:off x="8020050" y="112395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FE7FF-2B53-4B5F-AE1B-6314B8A7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48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Secure tenancy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91FBD-65EA-4B91-B331-86DEA422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577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Deterministic ledger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788D2-CB7B-4F87-9226-05BE5250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Governed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C0E4F-D434-4F39-97E9-39C19205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AMINU DANLADI HUSSAIN  ·  2024/A/SENG/0156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AA0F7-D4B0-4094-B77C-F759014D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96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Supervisor: Dr Samuel Makinde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C5359-8A4D-4AB8-8A3E-47F77992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2783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4B8459-E3DE-4D6C-B875-D0F4A8CA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CB4AD1A-F82A-4666-98A1-F39EF0F1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Manual records fragment one financial story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E2FC3-46BF-454F-B300-27C90A05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AA36C-559D-419B-B51F-937BC2A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D8391-4D96-4F0D-9648-19885C3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A contribution can exist in four places—yet still lack one defensible balance.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F1667-E282-4F42-8301-912F3A2D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6546D-25F5-41F9-ACE7-25E328B3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No shared source of truth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33400" y="3267075"/>
            <a:ext cx="3162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1554B-36BC-46BA-8A95-D679540C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FDD6D-E271-4AE9-8976-77BFC116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Weak role boundaries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33400" y="3933825"/>
            <a:ext cx="3162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64A59-80A5-4804-BCCE-0FC4DE74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2AD7C-D579-4F40-AFBC-0CC1C01E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Inconsistent partial-payment allocation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33400" y="4600575"/>
            <a:ext cx="3162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2735A-7195-42B3-84F0-A8F471AA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E126B-305F-468B-8C69-187215BC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Delayed reporting and reconciliation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7041E-E14B-4C26-A897-10E1AFDA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28775"/>
            <a:ext cx="76009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ef2b814b74e6e"/>
          <a:stretch xmlns:a="http://schemas.openxmlformats.org/drawingml/2006/main"/>
        </p:blipFill>
        <p:spPr>
          <a:xfrm xmlns:a="http://schemas.openxmlformats.org/drawingml/2006/main">
            <a:off x="4248150" y="2233136"/>
            <a:ext cx="7219950" cy="32489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48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6C07CB-DCF8-4F30-A725-FC456E56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THE GAP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820B528-5765-445F-B6E7-5BD1BC1B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The missing capability is governed coordination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DB9E0-AB52-4E4D-BF9B-D0DAFC7F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64B04-AB73-4FD2-B665-8466C845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8CF53-43B8-4F70-8180-E80B4B50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Adjacent tools solve pieces of the problem; none combines the full family-fund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BBF7E-685F-4256-A1A8-D7F85D63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4805F-5B5C-4E89-BC97-BF60E681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139DA-24FB-45B5-9488-3337F6E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Contribution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C7D62-1495-40D6-920F-58E894B5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Tenant / role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92847-7865-4D96-B715-72AFF868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Auditable allocation &amp;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6B19E-7FBE-4DCF-B882-C4852479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1125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533400" y="33718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7D11B-6277-4336-A5AE-229DFBB7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Notebook / chat / spreadsheet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2C31E-252C-418C-A142-36EE3466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Manual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C0F73-B0E4-4990-8625-CFF7AED6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Weak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DF932-68CB-4176-8742-E19A247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Fragmented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324E0-611C-41BE-AEFF-F67D49D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533400" y="40481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BB5AF-8FDD-4BE9-96BF-C26A06FC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4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Consumer savings and payment apps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CDC0A-DD5A-4A11-BFFF-C7F56DF5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528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Limited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92FEE-8EEA-4448-981D-A3947C8E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528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Individual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714B4-4DF9-4F77-97F0-B29D551A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528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Payment-led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75B4E-9F85-4720-B5E8-F2B95087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533400" y="47244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3EFC91-EA08-48AD-BB97-7AFA887F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Formal cooperative platforms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9D33B7-B628-4681-A353-17FC01B1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Structured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CA6E1-D7AE-4029-850E-995BB67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Organisation-led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B0B8A-3E22-4B2C-85DC-F6C83561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291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Formal-scheme fit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24374-AF4D-44A9-A280-D97973EB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3925"/>
            <a:ext cx="11125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533400" y="540067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6963A4-8045-4E0E-B745-C4B9A88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FamilyFunds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829577-B711-47C1-95E5-86DF3633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0537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Family-defined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230C95-404D-47E5-9996-FFC02351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53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Family membership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41C63A-1FDD-414C-9493-4A77AE3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053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Deterministic + traceable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0DCC5E-5197-4E05-A625-78343C37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FamilyFunds is a governed ledger and workflow—not another payment button.</a:t>
            </a:r>
          </a:p>
        </p:txBody>
      </p:sp>
    </p:spTree>
    <p:extLst>
      <p:ext uri="{BB962C8B-B14F-4D97-AF65-F5344CB8AC3E}">
        <p14:creationId xmlns:p14="http://schemas.microsoft.com/office/powerpoint/2010/main" val="1708220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B1AEF8-9104-4394-9C52-6714FAA6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STUDY OBJECTIVES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FBE9043-5EC0-450A-9E2E-ACF1CFF5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Six objectives connect the study to evidence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16C04-6A69-4893-A71E-0F55B9D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B3A3B-6841-424B-A901-7B7C5C3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19FDA-632A-49CE-BD97-9DC0496F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021BA-524E-478A-9617-4708E416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716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0C9AB-CBA4-4B79-83B7-C10284AA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02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Practice, tools and literature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533400" y="2867025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0C5C0-4354-4AA6-8B5B-E77B2BE6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29B07-99D1-4AF9-B6AB-E491F65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716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155C6-24A4-4BB0-8D02-985E2C72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02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Multi-tenancy, roles and data structures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096000" y="2867025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B523E-08E1-405B-AC27-9E099A5F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91563-F0FC-4CDA-B7B0-ABC12BCC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Implement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A40D3-D71F-47CA-ACFC-930EA42C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Core financial and reporting modules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533400" y="4229100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2EBF5-DB5C-4A19-820A-EA5C7D37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B00EE-C358-44BF-BD2B-A722F209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337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Govern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8E019-3C4C-4B32-B217-18A8E0FA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Family-scoped assistance with confirmation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096000" y="4229100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56AEB-73F9-465A-ABF8-C01BB781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6DB1A-7743-4AE6-BA02-FCB54ED5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Evaluate prediction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53AF6-47EE-4E85-BD0A-2FE9E96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2442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Logistic regression against two baselines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533400" y="5591175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A0D12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9E489-E00B-4B96-8CB1-7167E63B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1784BC-39E4-445A-8709-8B0EB5B3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7A199-9C05-4665-99EA-A7AE8BBD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2442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Functional, security, reliability and usability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096000" y="5591175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A0D12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92805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17E44-6E47-4A19-A5A5-B40FDC64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B1C4B8F-1CEA-42BD-90FD-47A8F1B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5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Agile iterations exposed the real accounting boundaries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F16B4-2E8A-420E-BDAC-DA44D39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81C29-30E8-4F94-8383-5797773D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48368-0AE2-401C-A620-786A0FB9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Applied system development converted each finding into a reviewable increment.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162050" y="3257550"/>
            <a:ext cx="9867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0D12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D4324-7E5C-4046-A23E-A4398DE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6326E-492F-4AE3-A2AC-6CD5EAE7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F7C62-B25A-4B6B-946A-B02D86A9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19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D8E5D-CA9F-49C9-902E-7759A475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Problem, literature,</a:t>
            </a:r>
          </a:p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78D0E-DB0A-4EC3-A2C9-CF4A4570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5B776-77AB-4860-9176-5BB9802F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05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2D2E3-0B2C-454A-AD18-8893C735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19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AC493-BA50-4B06-9D96-E586B710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Tenant controls, ledger,</a:t>
            </a:r>
          </a:p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reports and integrations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8F416-996E-474D-AEE0-0066721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36B41-1F5F-40E2-95C2-047DA626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68B48-426A-4058-A2D7-6BDE9C7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19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B7B3D-693B-4E56-BB0A-68895C8A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Automated evidence,</a:t>
            </a:r>
          </a:p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external evidence gates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DA2F4-D2F2-45C7-BC62-81141D03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95372-320C-4B4C-9DCB-03B79709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Post-design extension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52E25-09CA-4665-8B42-4EC5835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24450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Reconciliation was added after implementation exposed the audit need; it is not backdated into the original FR1–FR20 baseline.</a:t>
            </a:r>
          </a:p>
        </p:txBody>
      </p:sp>
    </p:spTree>
    <p:extLst>
      <p:ext uri="{BB962C8B-B14F-4D97-AF65-F5344CB8AC3E}">
        <p14:creationId xmlns:p14="http://schemas.microsoft.com/office/powerpoint/2010/main" val="1309697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B3181-4311-48E6-A40A-BD693D2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SYSTEM ARCHITECTURE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BE7FFA6-FDEB-4698-9E64-47C872AD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Laravel governs every external event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1BD5F-0673-4628-A3C6-976B89BC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DFCBD-BAD0-4C93-AA14-40051D88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06646-B475-4EC3-A2EC-75C20B02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Family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4E6DB-0753-4C8D-B4B5-7403A7E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Every request is bound to one active family membership.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496A1-3CC9-48A8-8D1B-0ADDDB4A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Governed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EC65D-4566-4BFD-AE48-8698AFA3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Policies, validation and domain services decide what may reach the ledger.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823EF-3CFB-4BD6-8B2B-B5159A8E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Recoverable integrations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445B5-644D-4A62-BCCB-B3393445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Paystack, messaging and AI responses remain observations—not authority.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183F6-A5CA-44D8-8545-C1BCE620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78676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c7dd77f564537"/>
          <a:stretch xmlns:a="http://schemas.openxmlformats.org/drawingml/2006/main"/>
        </p:blipFill>
        <p:spPr>
          <a:xfrm xmlns:a="http://schemas.openxmlformats.org/drawingml/2006/main">
            <a:off x="3962400" y="1817926"/>
            <a:ext cx="7524750" cy="41174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8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478CE-B4D3-4CC0-9663-BBAE81E8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PAYMENT ALLOCATION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5B20DA6-3850-43E7-A2D5-51DA4835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0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One deterministic rule makes partial payments explainable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50605-F4F0-4D93-8B26-2E1AC24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39C1D-AC4A-4E67-B4ED-2792C161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E96C0-3065-4BFA-AE28-350A76FB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EDD4B-8EFC-44EF-A958-36B4CE1A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Validate the receipt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E7A40-73E7-4906-B11A-EA9D5EB7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621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Manual input or verified Paystack event enters the same governed service.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33400" y="2933700"/>
            <a:ext cx="4076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B695D-ADB0-4F72-8BA1-3753EC22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3EEF0-E4AD-429B-982B-1E3A67D8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Lock incomplete obligations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73EE6-06F5-4F4F-9BCE-95D8FB92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1472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Load family-owned balances in chronological order inside one transaction.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33400" y="4286250"/>
            <a:ext cx="4076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4270C-4978-4AEF-8C39-5CD2E193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14BFB-0CFC-4974-8ABA-DB7BFF6A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Allocate oldest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78104-652D-415C-AE32-EA30C301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672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Persist the batch and immutable allocation lines; repeat until exhausted.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D7934-C552-4808-AE29-4BEC7B4D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57350"/>
            <a:ext cx="66865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449fa9c724b21"/>
          <a:stretch xmlns:a="http://schemas.openxmlformats.org/drawingml/2006/main"/>
        </p:blipFill>
        <p:spPr>
          <a:xfrm xmlns:a="http://schemas.openxmlformats.org/drawingml/2006/main">
            <a:off x="5732340" y="1752600"/>
            <a:ext cx="5165971" cy="424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7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3E756-C8C3-410A-A796-14CC00B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AI AND PREDICTIVE GOVERNANCE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7858CC7-8211-4657-ACE0-15A56CFF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Intelligence is constrained, not autonomous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D7FCA-7104-4FCA-90B3-2BAE58C6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0CB82-F7CC-4C00-9CB4-10D261E7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DB451-8F70-42A0-BBC1-55E2C190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Controlled AI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C354E-DCC3-48E9-835E-6375723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Family-scoped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BE048-5DF1-43C7-AD7C-80542644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Authoritative data is read through permitted application queries.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85800" y="34004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505D7-14BC-41C3-8198-B84359F8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Preview before writes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5BAF6-4687-4AD2-8C53-AA202D8D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An officer must explicitly confirm a proposed action; members cannot write.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40801-162D-42B6-BB05-A1B0D71D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Payment-risk advisory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98AD2-B8D8-43B4-8543-808ECF7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71725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Offline model, native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116D4-BB77-4984-9416-BB001CC0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336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Schema, checksum and activation gates separate training from production requests.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515100" y="34004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9789C-7A22-4B5B-B017-F7C54061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Officer-only and advisory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F4F3E-2116-4FCA-9247-8DDC1A2D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Cold-start tiers can show unavailable; a score cannot sanction, remind or mutate records.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5924550" y="17145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5ADCB-72A2-498B-BF7B-09FCBD9A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F3372-A26C-48F2-A092-4D48E08E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Neither path can bypass Laravel authorisation, validation or the financial ledger.</a:t>
            </a:r>
          </a:p>
        </p:txBody>
      </p:sp>
    </p:spTree>
    <p:extLst>
      <p:ext uri="{BB962C8B-B14F-4D97-AF65-F5344CB8AC3E}">
        <p14:creationId xmlns:p14="http://schemas.microsoft.com/office/powerpoint/2010/main" val="1294603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77183-1B77-4AFB-BBF7-AC976D6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EXECUTED TEST EVIDENCE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03C0E2DD-F78A-4FCE-A360-8E8B0A3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3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Local checks passed across implemented boundaries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B4F0D-B710-41B3-9D9B-33A4E075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963BC-4D8B-4968-AED3-0D7B387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14671-F773-4575-8674-9FC00A95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Final canonical local rerun: 15 August 2026 · Pest 22.209 s. Focused runs overlap and are not combined.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97BFA-C313-4F9D-BB6C-9FCC3B7D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6E11A-ECE0-4C1E-B1A8-7794A1BE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1,421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C7294-F9C4-42B8-9116-0289D4D0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Pest tests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800100" y="4286250"/>
            <a:ext cx="2895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58BA0-417C-4F25-BC5B-9C601428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6,904 assertions</a:t>
            </a:r>
          </a:p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100.0% PHP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5AB66-3A4A-43B4-9F69-F7C31ECA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953A7-DAC5-444E-9C2F-9213DA2F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66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9DA6D-4A75-4F6D-B328-353DE9B3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Python ML tests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572000" y="4286250"/>
            <a:ext cx="2895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6045F-380E-4AF7-8A52-7201F60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100% statement coverage</a:t>
            </a:r>
          </a:p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Locked Python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50156-68D3-4BC4-91F6-53DC3795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7D0ED-CB36-4B46-88B6-92C44296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138 + 5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A4ED6-3FF2-4EBE-BB7E-3572AC06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Boundary runs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8343900" y="4286250"/>
            <a:ext cx="2895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5CF57-BD86-4756-9561-E55FD5EC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9580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138 PostgreSQL tests / 440 assertions</a:t>
            </a:r>
          </a:p>
          <a:p xmlns:a="http://schemas.openxmlformats.org/drawingml/2006/main">
            <a:pPr algn="l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5 Chromium tests / 82 assertions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3BFA6-5F38-48CC-B630-18C84526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Local result only · no fresh post-change hosted SHA</a:t>
            </a:r>
          </a:p>
        </p:txBody>
      </p:sp>
    </p:spTree>
    <p:extLst>
      <p:ext uri="{BB962C8B-B14F-4D97-AF65-F5344CB8AC3E}">
        <p14:creationId xmlns:p14="http://schemas.microsoft.com/office/powerpoint/2010/main" val="1570359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243E55-DB50-4B06-AA2D-DB421EB3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OBJECTIVE VERDICTS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A5CAA01E-4535-46E3-89F4-AB87E0C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47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Design goals were met; operational and predictive claims remain open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173F2-FE45-4E11-A110-698820B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CE7C3-EEB1-4887-8F27-638080D8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D6C48-7C9A-46DE-AB9E-AEF0089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2C72C-AAA8-4F8F-B90D-CDA610B8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70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499A7-2B51-4EFF-87A6-56991C1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719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Evidence-based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AFC6B-41D5-44A4-B6AF-A8E8DBE7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71650"/>
            <a:ext cx="2657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A37DB-6FEF-42F0-91AC-403AB4F7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33400" y="273367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F7639-16C7-444D-B017-CDE44DE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5833C-3AF9-48D7-AFBC-2DA0044A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719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Review relevant practice, tools and literature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17C72-1405-47CB-B2C9-6D39DF38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38375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Met for report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B7012-24F1-428C-AD5F-58C067A8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533400" y="33623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57DB9-C196-410D-894F-6883C044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1E44A-4FD2-4CDD-9B80-40045460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86075"/>
            <a:ext cx="719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Design multi-tenant family-fund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41B0B-470D-48C8-8108-B7C33E52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67025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Met for design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46B78-CEB4-431B-8471-C66FB7E7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533400" y="399097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99AD6-6027-40D8-AE45-2BB99EC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4B53D-D2AE-4EFA-840C-24DDC67B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719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Implement proposed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3F2D2-E407-40BB-BCEC-1B0C1A65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95675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Partially Met overall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7DE4A9-C38A-48FF-AB8C-0186DB86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533400" y="46196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35B04-C915-446D-8BAF-C3F830E9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2217C-0391-4F82-8729-9EB047AD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719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Integrate controlled AI features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480624-3878-49CE-A73C-A6558242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24325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Partially Met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A7A7A1-DAC6-437C-B547-A437D88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533400" y="524827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79CAA-6311-419E-8FB5-8377328C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6D4D5-2833-45F9-82E6-24D1E7A2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719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Implement and evaluate logistic regression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8B956C-FFC5-4770-BFA2-F2D8D232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Partially Met; evaluation Not Executed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776DC3-2043-4F5B-8D70-AEFE32C5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533400" y="58769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DD54EC-DF4F-4D8C-9755-45468BC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960646-C85C-4E90-849E-C3BA6664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719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Test against key requirements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B2E1A8-389B-4E56-995F-CEDF9762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81625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Partially Met</a:t>
            </a:r>
          </a:p>
        </p:txBody>
      </p:sp>
    </p:spTree>
    <p:extLst>
      <p:ext uri="{BB962C8B-B14F-4D97-AF65-F5344CB8AC3E}">
        <p14:creationId xmlns:p14="http://schemas.microsoft.com/office/powerpoint/2010/main" val="1375891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41E08-7998-44B7-B74B-0729DC92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EVIDENCE BOUNDARY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B99FD50B-1889-4F31-82BC-9B0FF6E4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Evidence gaps still limit operational claims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CC827-9BEE-4366-AA0F-42DE3DD0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FAMILYFUNDS  ·  FINAL PROJECT 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115AE-ED89-4A4B-A897-52C322D4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1873B-077A-43A3-8068-A229F1E9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4B03D-804D-4888-8474-54057B08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049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Predictive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C8628-719E-4CD8-B59A-E8CDC7E1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No authorised private CSV; no threshold, coefficients, confusion matrix, model metrics or populated prediction.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33400" y="25241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7D2D6-A896-4957-9CAD-BD13F695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26F2E-B3C5-473C-A31A-47EC2BB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Hosted acceptance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814CF-DCF1-43BF-9758-3248E9AC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No fresh post-change hosted SHA; a699a821 remains a pre-change baseline only.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533400" y="35909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5D66B-52D3-41D3-8916-5195B77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0B63B-35DC-4705-86D5-0184CCCE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385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Live integrations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E250F-30FC-47A5-AEFE-3A93C3C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Paystack, messaging and AI-provider acceptance were not executed for the final revision.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533400" y="46577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B1DFF-6E3F-4AA7-A002-442A392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053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7CA03-CDD6-487B-8121-84A04427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Operational non-functionals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802D7-6259-45E7-9554-BD68EFFF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958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Performance, concurrency, recovery and longitudinal user evidence remain pending.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533400" y="57245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A0D12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CA3E9-2A4C-4204-B41A-70D83087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112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A01B8-CA98-4B0E-B8A0-83B94772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Interface evidence captured: 20 redacted synthetic-tenant images, Figures 4.1a–c through 4.14; prediction remains inactive and advisory.</a:t>
            </a:r>
          </a:p>
        </p:txBody>
      </p:sp>
    </p:spTree>
    <p:extLst>
      <p:ext uri="{BB962C8B-B14F-4D97-AF65-F5344CB8AC3E}">
        <p14:creationId xmlns:p14="http://schemas.microsoft.com/office/powerpoint/2010/main" val="18485815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170AD-565B-41CE-B027-F24079DF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closing-thesis">
            <a:extLst xmlns:a="http://schemas.openxmlformats.org/drawingml/2006/main">
              <a:ext uri="{FF2B5EF4-FFF2-40B4-BE49-F238E27FC236}">
                <a16:creationId xmlns:a16="http://schemas.microsoft.com/office/drawing/2014/main" id="{5A977890-0A01-4ADD-AC2D-4EA319AF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93535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917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A0D12"/>
                </a:solidFill>
                <a:latin typeface="Helvetica Neue"/>
                <a:ea typeface="Helvetica Neue"/>
                <a:cs typeface="Helvetica Neue"/>
              </a:rPr>
              <a:t>FamilyFunds turns informal contribution practice into governed, traceable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A2EE6-B968-4481-B677-2C5D8783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8724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The conventional application is substantially implemented and locally verified. Operational readiness and predictive usefulness remain intentionally gated by evidence.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552450" y="4857750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A0D12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B1A2A-0D90-4045-BE44-E18FE723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Secure tenancy  ·  Deterministic ledger  ·  Governed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510CF-681C-4458-863C-87869246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911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87263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A16FD-9140-4DD9-83AF-E135177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AMINU DANLADI HUSSAIN  ·  MIVA OPEN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1C37F-7D1A-4BA5-9469-5BBE0EA1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6404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2026-08-15T09:09:47.1500000Z</dcterms:created>
  <dcterms:modified xsi:type="dcterms:W3CDTF">2026-08-15T09:09:47.1500000Z</dcterms:modified>
</coreProperties>
</file>