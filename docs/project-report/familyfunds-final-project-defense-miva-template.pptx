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31f6e62be34aef" /><Relationship Type="http://schemas.openxmlformats.org/officeDocument/2006/relationships/extended-properties" Target="/docProps/app.xml" Id="R1356dbe3e4754bac" /><Relationship Type="http://schemas.openxmlformats.org/officeDocument/2006/relationships/officeDocument" Target="/ppt/presentation.xml" Id="Re2458c134ca64f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ac234780394ba0"/>
  </p:sldMasterIdLst>
  <p:notesMasterIdLst>
    <p:notesMasterId xmlns:r="http://schemas.openxmlformats.org/officeDocument/2006/relationships" r:id="Rea98c96259a94dba"/>
  </p:notesMasterIdLst>
  <p:sldIdLst>
    <p:sldId xmlns:r="http://schemas.openxmlformats.org/officeDocument/2006/relationships" id="256" r:id="Rbc61546f6edb400b"/>
    <p:sldId xmlns:r="http://schemas.openxmlformats.org/officeDocument/2006/relationships" id="257" r:id="Raec460a0d86f41e0"/>
    <p:sldId xmlns:r="http://schemas.openxmlformats.org/officeDocument/2006/relationships" id="258" r:id="R34f00e220a6841cc"/>
    <p:sldId xmlns:r="http://schemas.openxmlformats.org/officeDocument/2006/relationships" id="259" r:id="R0baabc6e653f44bd"/>
    <p:sldId xmlns:r="http://schemas.openxmlformats.org/officeDocument/2006/relationships" id="260" r:id="R384ac547ad204e4a"/>
    <p:sldId xmlns:r="http://schemas.openxmlformats.org/officeDocument/2006/relationships" id="261" r:id="R93644ba95a38496b"/>
    <p:sldId xmlns:r="http://schemas.openxmlformats.org/officeDocument/2006/relationships" id="262" r:id="R258270fce59c4126"/>
    <p:sldId xmlns:r="http://schemas.openxmlformats.org/officeDocument/2006/relationships" id="263" r:id="Rb492940a6a854c7c"/>
    <p:sldId xmlns:r="http://schemas.openxmlformats.org/officeDocument/2006/relationships" id="264" r:id="R04b6bb72796048e0"/>
    <p:sldId xmlns:r="http://schemas.openxmlformats.org/officeDocument/2006/relationships" id="265" r:id="Rdeb0c318cf8d4379"/>
    <p:sldId xmlns:r="http://schemas.openxmlformats.org/officeDocument/2006/relationships" id="266" r:id="Ra5ba475ff8484e24"/>
    <p:sldId xmlns:r="http://schemas.openxmlformats.org/officeDocument/2006/relationships" id="267" r:id="R8b372a43e9a2435b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ffd3fb0a0141d4" /><Relationship Type="http://schemas.openxmlformats.org/officeDocument/2006/relationships/slideMaster" Target="/ppt/slideMasters/slideMaster1.xml" Id="Rbcac234780394ba0" /><Relationship Type="http://schemas.openxmlformats.org/officeDocument/2006/relationships/notesMaster" Target="/ppt/notesMasters/notesMaster1.xml" Id="Rea98c96259a94dba" /><Relationship Type="http://schemas.openxmlformats.org/officeDocument/2006/relationships/presProps" Target="/ppt/presProps.xml" Id="R5be70f0fbe514636" /><Relationship Type="http://schemas.openxmlformats.org/officeDocument/2006/relationships/viewProps" Target="/ppt/viewProps.xml" Id="R518a8abf061c4c8f" /><Relationship Type="http://schemas.openxmlformats.org/officeDocument/2006/relationships/tableStyles" Target="/ppt/tableStyles.xml" Id="R7ea2f57ad4a14c20" /><Relationship Type="http://schemas.openxmlformats.org/officeDocument/2006/relationships/slide" Target="/ppt/slides/slide1.xml" Id="Rbc61546f6edb400b" /><Relationship Type="http://schemas.openxmlformats.org/officeDocument/2006/relationships/slide" Target="/ppt/slides/slide2.xml" Id="Raec460a0d86f41e0" /><Relationship Type="http://schemas.openxmlformats.org/officeDocument/2006/relationships/slide" Target="/ppt/slides/slide3.xml" Id="R34f00e220a6841cc" /><Relationship Type="http://schemas.openxmlformats.org/officeDocument/2006/relationships/slide" Target="/ppt/slides/slide4.xml" Id="R0baabc6e653f44bd" /><Relationship Type="http://schemas.openxmlformats.org/officeDocument/2006/relationships/slide" Target="/ppt/slides/slide5.xml" Id="R384ac547ad204e4a" /><Relationship Type="http://schemas.openxmlformats.org/officeDocument/2006/relationships/slide" Target="/ppt/slides/slide6.xml" Id="R93644ba95a38496b" /><Relationship Type="http://schemas.openxmlformats.org/officeDocument/2006/relationships/slide" Target="/ppt/slides/slide7.xml" Id="R258270fce59c4126" /><Relationship Type="http://schemas.openxmlformats.org/officeDocument/2006/relationships/slide" Target="/ppt/slides/slide8.xml" Id="Rb492940a6a854c7c" /><Relationship Type="http://schemas.openxmlformats.org/officeDocument/2006/relationships/slide" Target="/ppt/slides/slide9.xml" Id="R04b6bb72796048e0" /><Relationship Type="http://schemas.openxmlformats.org/officeDocument/2006/relationships/slide" Target="/ppt/slides/slide10.xml" Id="Rdeb0c318cf8d4379" /><Relationship Type="http://schemas.openxmlformats.org/officeDocument/2006/relationships/slide" Target="/ppt/slides/slide11.xml" Id="Ra5ba475ff8484e24" /><Relationship Type="http://schemas.openxmlformats.org/officeDocument/2006/relationships/slide" Target="/ppt/slides/slide12.xml" Id="R8b372a43e9a243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99083fe9054f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a04af9bfae488f" /><Relationship Type="http://schemas.openxmlformats.org/officeDocument/2006/relationships/notesMaster" Target="/ppt/notesMasters/notesMaster1.xml" Id="Rf0a4eeeef76749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26dfc4571f4581" /><Relationship Type="http://schemas.openxmlformats.org/officeDocument/2006/relationships/notesMaster" Target="/ppt/notesMasters/notesMaster1.xml" Id="Red105aca39b647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1691b991f04e04" /><Relationship Type="http://schemas.openxmlformats.org/officeDocument/2006/relationships/notesMaster" Target="/ppt/notesMasters/notesMaster1.xml" Id="R83df8f20370942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58733898974d3a" /><Relationship Type="http://schemas.openxmlformats.org/officeDocument/2006/relationships/notesMaster" Target="/ppt/notesMasters/notesMaster1.xml" Id="R5053664c55bb4b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a56ec5013747cc" /><Relationship Type="http://schemas.openxmlformats.org/officeDocument/2006/relationships/notesMaster" Target="/ppt/notesMasters/notesMaster1.xml" Id="R91965a40726949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e0ad00a16946dd" /><Relationship Type="http://schemas.openxmlformats.org/officeDocument/2006/relationships/notesMaster" Target="/ppt/notesMasters/notesMaster1.xml" Id="R478e418650d340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21d735911544c3" /><Relationship Type="http://schemas.openxmlformats.org/officeDocument/2006/relationships/notesMaster" Target="/ppt/notesMasters/notesMaster1.xml" Id="Rc7dc0cab37e346e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8d5a687c6b454b" /><Relationship Type="http://schemas.openxmlformats.org/officeDocument/2006/relationships/notesMaster" Target="/ppt/notesMasters/notesMaster1.xml" Id="R0ccd3e6d3fc942b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3b38b616774467b" /><Relationship Type="http://schemas.openxmlformats.org/officeDocument/2006/relationships/notesMaster" Target="/ppt/notesMasters/notesMaster1.xml" Id="R121a23cafc8e495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97f304366504381" /><Relationship Type="http://schemas.openxmlformats.org/officeDocument/2006/relationships/notesMaster" Target="/ppt/notesMasters/notesMaster1.xml" Id="R4c9236c81e5948b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22823dd0525443c" /><Relationship Type="http://schemas.openxmlformats.org/officeDocument/2006/relationships/notesMaster" Target="/ppt/notesMasters/notesMaster1.xml" Id="Rcffd369bee6b4dd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64092813f3049ee" /><Relationship Type="http://schemas.openxmlformats.org/officeDocument/2006/relationships/notesMaster" Target="/ppt/notesMasters/notesMaster1.xml" Id="Ra6409b68bb9d49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exact approved project title and identify the three design commitments: secure tenancy, a deterministic ledger, and governed intelligence.</a:t>
            </a:r>
            <a:endParaRPr/>
          </a:p>
          <a:p xmlns:a="http://schemas.openxmlformats.org/drawingml/2006/main">
            <a:r>
              <a:t>Clarify that predictive analytics is part of the implemented software contract, but empirical model evaluation was not executed without an authorised dataset.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docs/project-report/preliminary-pages.md — approved title, student, department and supervisor details.</a:t>
            </a:r>
            <a:endParaRPr/>
          </a:p>
          <a:p xmlns:a="http://schemas.openxmlformats.org/drawingml/2006/main">
            <a:r>
              <a:t>- /Users/amisha/Downloads/MIVA_CS_Proposal_Template.pptx — official MIVA visual template.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four recording locations as an illustrative workflow, not a population statistic.</a:t>
            </a:r>
            <a:endParaRPr/>
          </a:p>
          <a:p xmlns:a="http://schemas.openxmlformats.org/drawingml/2006/main">
            <a:r>
              <a:t>The study problem is the absence of a purpose-built system combining tenancy, role governance, allocation, expenses, payment support and understandable reporting.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docs/project-report/chapter-1.md, Sections 1.1-1.2.</a:t>
            </a:r>
            <a:endParaRPr/>
          </a:p>
          <a:p xmlns:a="http://schemas.openxmlformats.org/drawingml/2006/main">
            <a:r>
              <a:t>- docs/project-report/chapter-3.md, Figure 3.1 and existing-system analysis.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all six approved objectives. Objective 5 includes evaluation only when an authorised historical dataset is available.</a:t>
            </a:r>
            <a:endParaRPr/>
          </a:p>
          <a:p xmlns:a="http://schemas.openxmlformats.org/drawingml/2006/main">
            <a:r>
              <a:t>State explicitly that the software pipeline was implemented, while its empirical evaluation was not executed.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docs/project-report/chapter-1.md, Sections 1.3-1.5.</a:t>
            </a:r>
            <a:endParaRPr/>
          </a:p>
          <a:p xmlns:a="http://schemas.openxmlformats.org/drawingml/2006/main">
            <a:r>
              <a:t>- docs/project-report/chapter-5.md, Section 5.3 objective verdicts.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Separate implemented scope from evidence still required for operational-readiness claims.</a:t>
            </a:r>
            <a:endParaRPr/>
          </a:p>
          <a:p xmlns:a="http://schemas.openxmlformats.org/drawingml/2006/main">
            <a:r>
              <a:t>A tested integration path is not the same as a live transaction, delivery, provider acceptance run or controlled restore.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docs/project-report/chapter-1.md, Sections 1.8-1.9.</a:t>
            </a:r>
            <a:endParaRPr/>
          </a:p>
          <a:p xmlns:a="http://schemas.openxmlformats.org/drawingml/2006/main">
            <a:r>
              <a:t>- docs/project-report/chapter-4.md, Sections 4.4.1-4.4.4.</a:t>
            </a:r>
            <a:endParaRPr/>
          </a:p>
          <a:p xmlns:a="http://schemas.openxmlformats.org/drawingml/2006/main">
            <a:r>
              <a:t>- docs/project-report/chapter-5.md, Section 5.6.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Qualify the claim as applying to the approaches reviewed in Chapter Two, rather than every tool in the market.</a:t>
            </a:r>
            <a:endParaRPr/>
          </a:p>
          <a:p xmlns:a="http://schemas.openxmlformats.org/drawingml/2006/main">
            <a:r>
              <a:t>The remaining gap is governed coordination: family-defined obligations, membership-scoped access, deterministic allocation and traceable reporting in one workflow.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docs/project-report/chapter-2.md, literature and existing-system review.</a:t>
            </a:r>
            <a:endParaRPr/>
          </a:p>
          <a:p xmlns:a="http://schemas.openxmlformats.org/drawingml/2006/main">
            <a:r>
              <a:t>- docs/project-report/references.md — PiggyVest, Cowrywise, Paystack, informal-finance and RBAC sources.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both AI and predictive paths remain subordinate to Laravel authorisation, validation and the ledger.</a:t>
            </a:r>
            <a:endParaRPr/>
          </a:p>
          <a:p xmlns:a="http://schemas.openxmlformats.org/drawingml/2006/main">
            <a:r>
              <a:t>Do not imply a trained active model or proven live-provider usefulness. The predictor currently fails closed without a validated model artifact.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docs/project-report/chapter-3.md, architecture and module design.</a:t>
            </a:r>
            <a:endParaRPr/>
          </a:p>
          <a:p xmlns:a="http://schemas.openxmlformats.org/drawingml/2006/main">
            <a:r>
              <a:t>- docs/project-report/chapter-4.md, Sections 4.2.1-4.2.6.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work in past tense: discovery, implementation and validation were iterative.</a:t>
            </a:r>
            <a:endParaRPr/>
          </a:p>
          <a:p xmlns:a="http://schemas.openxmlformats.org/drawingml/2006/main">
            <a:r>
              <a:t>Reconciliation is disclosed as a post-design extension rather than silently inserted into the original FR1-FR20 baseline.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docs/project-report/chapter-3.md, methodology, environment and tools.</a:t>
            </a:r>
            <a:endParaRPr/>
          </a:p>
          <a:p xmlns:a="http://schemas.openxmlformats.org/drawingml/2006/main">
            <a:r>
              <a:t>- docs/project-report/chapter-4.md, Sections 4.1.2 and 4.2.</a:t>
            </a:r>
            <a:endParaRPr/>
          </a:p>
          <a:p xmlns:a="http://schemas.openxmlformats.org/drawingml/2006/main">
            <a:r>
              <a:t>- composer.lock, package-lock.json and ml/payment-risk/uv.lock — verified dependency state.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simplified defence view from left to right: application boundaries, role permissions, then the deterministic payment rule. The report contains the full diagrams.</a:t>
            </a:r>
            <a:endParaRPr/>
          </a:p>
          <a:p xmlns:a="http://schemas.openxmlformats.org/drawingml/2006/main">
            <a:r>
              <a:t>External services provide observations. They do not bypass family context, policies, validation or ledger services.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docs/project-report/diagrams/slide-05-system-architecture-full-trimmed.png.</a:t>
            </a:r>
            <a:endParaRPr/>
          </a:p>
          <a:p xmlns:a="http://schemas.openxmlformats.org/drawingml/2006/main">
            <a:r>
              <a:t>- docs/project-report/diagrams/slide-06-use-case-diagram-full-trimmed.png.</a:t>
            </a:r>
            <a:endParaRPr/>
          </a:p>
          <a:p xmlns:a="http://schemas.openxmlformats.org/drawingml/2006/main">
            <a:r>
              <a:t>- docs/project-report/diagrams/panels/slide-07-payment-allocation-flowchart-panel-2.png.</a:t>
            </a:r>
            <a:endParaRPr/>
          </a:p>
          <a:p xmlns:a="http://schemas.openxmlformats.org/drawingml/2006/main">
            <a:r>
              <a:t>- docs/project-report/chapter-3.md, Sections 3.4-3.10.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real application screenshots from the synthetic development tenant, not mock-ups and not real user data.</a:t>
            </a:r>
            <a:endParaRPr/>
          </a:p>
          <a:p xmlns:a="http://schemas.openxmlformats.org/drawingml/2006/main">
            <a:r>
              <a:t>The report contains 20 redacted interface images. The enlarged officer dashboard is shown here so its running-system evidence remains readable when projected.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docs/project-report/screenshots/figure-4-02-admin-dashboard.png.</a:t>
            </a:r>
            <a:endParaRPr/>
          </a:p>
          <a:p xmlns:a="http://schemas.openxmlformats.org/drawingml/2006/main">
            <a:r>
              <a:t>- docs/project-report/screenshots/figure-4-09-reports-exports-schedules.png.</a:t>
            </a:r>
            <a:endParaRPr/>
          </a:p>
          <a:p xmlns:a="http://schemas.openxmlformats.org/drawingml/2006/main">
            <a:r>
              <a:t>- docs/project-report/chapter-4.md, Figures 4.1a-c through 4.14.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add focused suites to the canonical suite; they overlap and serve different evidence boundaries.</a:t>
            </a:r>
            <a:endParaRPr/>
          </a:p>
          <a:p xmlns:a="http://schemas.openxmlformats.org/drawingml/2006/main">
            <a:r>
              <a:t>The local software checks passed. Final acceptance still requires an authorised private dataset, a fresh hosted SHA, live integrations, performance/concurrency evidence and a controlled recovery drill.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docs/project-report/chapter-4.md, Tables 4.7-4.9.</a:t>
            </a:r>
            <a:endParaRPr/>
          </a:p>
          <a:p xmlns:a="http://schemas.openxmlformats.org/drawingml/2006/main">
            <a:r>
              <a:t>- Local canonical composer ci:check result on 15 August 2026: 1,421 tests, 6,904 assertions, 100.0% PHP coverage, Pest 22.209 s.</a:t>
            </a:r>
            <a:endParaRPr/>
          </a:p>
          <a:p xmlns:a="http://schemas.openxmlformats.org/drawingml/2006/main">
            <a:r>
              <a:t>- Local ML, PostgreSQL and Chromium focused-run evidence recorded in Chapter Four.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selected anchors only; the report contains the complete 74-entry reference list.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Bascom, W. R. (1952). The Esusu. Journal of the Royal Anthropological Institute, 82(1), 63-69. https://doi.org/10.2307/2844040</a:t>
            </a:r>
            <a:endParaRPr/>
          </a:p>
          <a:p xmlns:a="http://schemas.openxmlformats.org/drawingml/2006/main">
            <a:r>
              <a:t>- Anderson, S., &amp; Baland, J.-M. (2002). The economics of ROSCAs. Quarterly Journal of Economics, 117(3), 963-995. https://doi.org/10.1162/003355302760193931</a:t>
            </a:r>
            <a:endParaRPr/>
          </a:p>
          <a:p xmlns:a="http://schemas.openxmlformats.org/drawingml/2006/main">
            <a:r>
              <a:t>- EFInA. (2023). Access to Financial Services in Nigeria 2023 Survey. https://efina.org.ng</a:t>
            </a:r>
            <a:endParaRPr/>
          </a:p>
          <a:p xmlns:a="http://schemas.openxmlformats.org/drawingml/2006/main">
            <a:r>
              <a:t>- Amazon Web Services. (2020). SaaS tenant isolation strategies. https://docs.aws.amazon.com/whitepapers/latest/saas-tenant-isolation-strategies/</a:t>
            </a:r>
            <a:endParaRPr/>
          </a:p>
          <a:p xmlns:a="http://schemas.openxmlformats.org/drawingml/2006/main">
            <a:r>
              <a:t>- Sandhu, R. S., et al. (1996). Role-based access control models. IEEE Computer, 29(2), 38-47. https://doi.org/10.1109/2.485845</a:t>
            </a:r>
            <a:endParaRPr/>
          </a:p>
          <a:p xmlns:a="http://schemas.openxmlformats.org/drawingml/2006/main">
            <a:r>
              <a:t>- Khandani, A. E., et al. (2010). Consumer credit-risk models via machine-learning algorithms. Journal of Banking &amp; Finance, 34(11), 2767-2787. https://doi.org/10.1016/j.jbankfin.2010.06.001</a:t>
            </a:r>
            <a:endParaRPr/>
          </a:p>
          <a:p xmlns:a="http://schemas.openxmlformats.org/drawingml/2006/main">
            <a:r>
              <a:t>- Lessmann, S., et al. (2015). Benchmarking classification algorithms for credit scoring. European Journal of Operational Research, 247(1), 124-136. https://doi.org/10.1016/j.ejor.2015.05.030</a:t>
            </a:r>
            <a:endParaRPr/>
          </a:p>
          <a:p xmlns:a="http://schemas.openxmlformats.org/drawingml/2006/main">
            <a:r>
              <a:t>- Wezel, T., &amp; Ree, J. J. (2023). Nigeria: Fostering financial inclusion through digital financial services. International Monetary Fund. https://doi.org/10.5089/9798400237195.018</a:t>
            </a:r>
            <a:endParaRPr/>
          </a:p>
          <a:p xmlns:a="http://schemas.openxmlformats.org/drawingml/2006/main">
            <a:r>
              <a:t>- Sharma, A., &amp; Kaur, P. (2021). Tenant-centric object-based software defined storage for multitenant SaaS applications. Arabian Journal for Science and Engineering, 46(9), 9221-9235. https://doi.org/10.1007/s13369-021-05743-z</a:t>
            </a:r>
            <a:endParaRPr/>
          </a:p>
          <a:p xmlns:a="http://schemas.openxmlformats.org/drawingml/2006/main">
            <a:r>
              <a:t>- Sommerville, I. (2016). Software Engineering (10th ed.). Pearson.</a:t>
            </a:r>
            <a:endParaRPr/>
          </a:p>
          <a:p xmlns:a="http://schemas.openxmlformats.org/drawingml/2006/main">
            <a:r>
              <a:t>- Schein, A. I., et al. (2002). Methods and metrics for cold-start recommendations. Proceedings of ACM SIGIR, 253-260.</a:t>
            </a:r>
            <a:endParaRPr/>
          </a:p>
          <a:p xmlns:a="http://schemas.openxmlformats.org/drawingml/2006/main">
            <a:r>
              <a:t>- Thomas, L. C. (2000). A survey of credit and behavioural scoring. International Journal of Forecasting, 16(2), 149-172. https://doi.org/10.1016/S0169-2070(00)00034-0</a:t>
            </a:r>
            <a:endParaRPr/>
          </a:p>
          <a:p xmlns:a="http://schemas.openxmlformats.org/drawingml/2006/main">
            <a:r>
              <a:t>- docs/project-report/references.md — complete reference list.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defensible result: the conventional application is substantially implemented and locally verified.</a:t>
            </a:r>
            <a:endParaRPr/>
          </a:p>
          <a:p xmlns:a="http://schemas.openxmlformats.org/drawingml/2006/main">
            <a:r>
              <a:t>Operational readiness and predictive usefulness remain intentionally gated by evidence. Invite questions after stating the next action.</a:t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docs/project-report/chapter-5.md, Sections 5.3-5.8.</a:t>
            </a:r>
            <a:endParaRPr/>
          </a:p>
          <a:p xmlns:a="http://schemas.openxmlformats.org/drawingml/2006/main">
            <a:r>
              <a:t>- docs/project-report/chapter-4.md, Section 4.4.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934c2254bc4934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3da7f5bacc4569" /><Relationship Type="http://schemas.openxmlformats.org/officeDocument/2006/relationships/slideLayout" Target="/ppt/slideLayouts/slideLayout1.xml" Id="R5ac915bff6c7488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c915bff6c74889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0d5c27e3054553" /><Relationship Type="http://schemas.openxmlformats.org/officeDocument/2006/relationships/image" Target="/ppt/media/image.jpeg" Id="R6cd132ed73c24067" /><Relationship Type="http://schemas.openxmlformats.org/officeDocument/2006/relationships/notesSlide" Target="/ppt/notesSlides/notesSlide1.xml" Id="R75df554d393749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8724fa50d64a83" /><Relationship Type="http://schemas.openxmlformats.org/officeDocument/2006/relationships/image" Target="/ppt/media/image.png" Id="R8f8c95d79b1a4fed" /><Relationship Type="http://schemas.openxmlformats.org/officeDocument/2006/relationships/notesSlide" Target="/ppt/notesSlides/notesSlide2.xml" Id="R867e2f0754f04f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b963d29a064d6e" /><Relationship Type="http://schemas.openxmlformats.org/officeDocument/2006/relationships/image" Target="/ppt/media/image.png" Id="Rc0577d5e4d3b47e9" /><Relationship Type="http://schemas.openxmlformats.org/officeDocument/2006/relationships/notesSlide" Target="/ppt/notesSlides/notesSlide3.xml" Id="Rcc6dd11c5e074f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9f5e5e4c894ba2" /><Relationship Type="http://schemas.openxmlformats.org/officeDocument/2006/relationships/image" Target="/ppt/media/image.png" Id="Rf7d212e7eec44029" /><Relationship Type="http://schemas.openxmlformats.org/officeDocument/2006/relationships/notesSlide" Target="/ppt/notesSlides/notesSlide4.xml" Id="R2b2694dea16a4a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e2d280818c448d" /><Relationship Type="http://schemas.openxmlformats.org/officeDocument/2006/relationships/image" Target="/ppt/media/image.png" Id="R4d0b09ed80ec4885" /><Relationship Type="http://schemas.openxmlformats.org/officeDocument/2006/relationships/notesSlide" Target="/ppt/notesSlides/notesSlide5.xml" Id="R77298c8b2ac545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bb586fce8c46c5" /><Relationship Type="http://schemas.openxmlformats.org/officeDocument/2006/relationships/image" Target="/ppt/media/image.png" Id="R1f4d0ce3edc84720" /><Relationship Type="http://schemas.openxmlformats.org/officeDocument/2006/relationships/notesSlide" Target="/ppt/notesSlides/notesSlide6.xml" Id="R4a73df3191d9449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ca3c0d35bc4618" /><Relationship Type="http://schemas.openxmlformats.org/officeDocument/2006/relationships/image" Target="/ppt/media/image.png" Id="Re916a12a59d34b89" /><Relationship Type="http://schemas.openxmlformats.org/officeDocument/2006/relationships/notesSlide" Target="/ppt/notesSlides/notesSlide7.xml" Id="R0bc9e8daba4f4f6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4c516815434c01" /><Relationship Type="http://schemas.openxmlformats.org/officeDocument/2006/relationships/image" Target="/ppt/media/image.png" Id="Reb9175825fb34c38" /><Relationship Type="http://schemas.openxmlformats.org/officeDocument/2006/relationships/notesSlide" Target="/ppt/notesSlides/notesSlide8.xml" Id="R8dffad1149a6445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d9495a9c71472b" /><Relationship Type="http://schemas.openxmlformats.org/officeDocument/2006/relationships/image" Target="/ppt/media/image.png" Id="R12b494e1b2b149ad" /><Relationship Type="http://schemas.openxmlformats.org/officeDocument/2006/relationships/image" Target="/ppt/media/image2.png" Id="R831f49122b0144ee" /><Relationship Type="http://schemas.openxmlformats.org/officeDocument/2006/relationships/notesSlide" Target="/ppt/notesSlides/notesSlide9.xml" Id="R4ab54cd81880415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8130f47c484744" /><Relationship Type="http://schemas.openxmlformats.org/officeDocument/2006/relationships/image" Target="/ppt/media/image.png" Id="R6791248448db4778" /><Relationship Type="http://schemas.openxmlformats.org/officeDocument/2006/relationships/notesSlide" Target="/ppt/notesSlides/notesSlide10.xml" Id="R70f7b5f9f8d945c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aca7a707b74866" /><Relationship Type="http://schemas.openxmlformats.org/officeDocument/2006/relationships/image" Target="/ppt/media/image.png" Id="R2fb04271cf454bc8" /><Relationship Type="http://schemas.openxmlformats.org/officeDocument/2006/relationships/notesSlide" Target="/ppt/notesSlides/notesSlide11.xml" Id="Rd93a1ec5066141d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a4aa4e1d56405d" /><Relationship Type="http://schemas.openxmlformats.org/officeDocument/2006/relationships/image" Target="/ppt/media/image.png" Id="R177d76f010a64a12" /><Relationship Type="http://schemas.openxmlformats.org/officeDocument/2006/relationships/notesSlide" Target="/ppt/notesSlides/notesSlide12.xml" Id="R45065ddeab8e45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C9B1B25-F6BF-4D39-A5D1-36A5F608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d132ed73c240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040" y="182880"/>
            <a:ext cx="2011680" cy="768096"/>
          </a:xfrm>
          <a:prstGeom xmlns:a="http://schemas.openxmlformats.org/drawingml/2006/main" prst="rect">
            <a:avLst/>
          </a:prstGeom>
        </p:spPr>
      </p:pic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65E900DF-3FBC-429D-AFEA-BDEF3F80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9144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86C97BAB-B141-4340-8946-9DB12850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914400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12700">
            <a:solidFill>
              <a:srgbClr val="C039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7FD7FC1-C96E-4506-8569-1B5BB187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72768"/>
            <a:ext cx="8229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  <a:defRPr sz="1575" b="1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Design and Implementation of an AI-Enhanced</a:t>
            </a:r>
            <a:endParaRPr sz="2600"/>
          </a:p>
          <a:p xmlns:a="http://schemas.openxmlformats.org/drawingml/2006/main">
            <a:pPr marL="0" indent="0" algn="l">
              <a:lnSpc>
                <a:spcPct val="95000"/>
              </a:lnSpc>
              <a:buNone/>
              <a:defRPr sz="1575" b="1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Multi-Tenant Family Fund Management System</a:t>
            </a:r>
            <a:endParaRPr sz="2600"/>
          </a:p>
          <a:p xmlns:a="http://schemas.openxmlformats.org/drawingml/2006/main">
            <a:pPr marL="0" indent="0" algn="l">
              <a:lnSpc>
                <a:spcPct val="95000"/>
              </a:lnSpc>
              <a:buNone/>
              <a:defRPr sz="1575" b="1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with Predictive Analytics and Intelligent Reporting</a:t>
            </a:r>
            <a:endParaRPr sz="26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7833035-D09D-49A5-8757-EEDD851E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822960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12700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6CE26CB-0BDE-47FB-8C20-FD8440A5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97480"/>
            <a:ext cx="3931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STUDENT NAME</a:t>
            </a:r>
            <a:endParaRPr sz="9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E0CE8D4-6F47-44AE-A782-CEAF7955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7792"/>
            <a:ext cx="3931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Aminu Danladi Hussain</a:t>
            </a:r>
            <a:endParaRPr sz="13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2F5D4E07-6B3C-477F-9430-7DFE5520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46120"/>
            <a:ext cx="3931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MATRIC NUMBER</a:t>
            </a:r>
            <a:endParaRPr sz="9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0A7F09F-D0A0-417F-ABC9-D77E92A9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56432"/>
            <a:ext cx="3931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2024/A/SENG/0156</a:t>
            </a:r>
            <a:endParaRPr sz="13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403C9543-FBC4-4FC6-97F1-654C5B87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697480"/>
            <a:ext cx="3931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DEPARTMENT</a:t>
            </a:r>
            <a:endParaRPr sz="9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D31A02F-2B38-41F8-82F8-84ACA2AF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907792"/>
            <a:ext cx="3931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Software Engineering</a:t>
            </a:r>
            <a:endParaRPr sz="13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9F3ED1D9-A21F-4A97-9D42-1FB78293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246120"/>
            <a:ext cx="3931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SUPERVISOR</a:t>
            </a:r>
            <a:endParaRPr sz="9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58C71B0-2761-41EF-8F84-8104F001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456432"/>
            <a:ext cx="3931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Dr Samuel Makinde</a:t>
            </a:r>
            <a:endParaRPr sz="13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CFB5B56C-9F46-4376-876D-ED2375E0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617720"/>
            <a:ext cx="8595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B0C4D8"/>
                </a:solidFill>
                <a:latin typeface="Calibri"/>
                <a:ea typeface="Calibri"/>
                <a:cs typeface="Calibri"/>
              </a:rPr>
              <a:t>MIVA Open University  |  Final Project Defence  |  2026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483022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AFC8E1A-1F2A-446E-91AD-C0C02665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0040"/>
            <a:ext cx="64008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12700">
            <a:solidFill>
              <a:srgbClr val="C039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ADDD2EA-AE66-4B8D-9578-266D9D49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4320"/>
            <a:ext cx="62179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Problem Statement</a:t>
            </a:r>
            <a:endParaRPr sz="28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5A65BBF7-649B-429D-A127-2A0111AC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914400"/>
            <a:ext cx="832104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4E16CDC-A07B-42D9-89DB-D99EA957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54880"/>
            <a:ext cx="365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2</a:t>
            </a:r>
            <a:endParaRPr sz="9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C57085FE-358C-4E69-949B-F4A220F6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1560"/>
            <a:ext cx="822960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A"/>
          </a:solidFill>
          <a:ln xmlns:a="http://schemas.openxmlformats.org/drawingml/2006/main" w="12700">
            <a:solidFill>
              <a:srgbClr val="1F5C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DAF152C-C931-4AFE-94EF-174A6E8F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1560"/>
            <a:ext cx="73152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12700">
            <a:solidFill>
              <a:srgbClr val="C039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12FB5E3-5CBD-4253-B741-C6620EE0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97280"/>
            <a:ext cx="78638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i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A family fund may be recorded across messages, notebooks, bank alerts and spreadsheets. No single record gives a defensible family balance.</a:t>
            </a:r>
            <a:endParaRPr sz="18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6D0FF7D-42B9-441C-ABB6-EEBD2D2C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4560"/>
            <a:ext cx="8229600" cy="2606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Problem Evidence</a:t>
            </a:r>
            <a:endParaRPr sz="1800"/>
          </a:p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8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No shared source of truth or consistent role boundaries.</a:t>
            </a:r>
            <a:endParaRPr sz="1800"/>
          </a:p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8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Partial payments can be applied differently across records, delaying reports and reconciliation.</a:t>
            </a:r>
            <a:endParaRPr sz="1800"/>
          </a:p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endParaRPr sz="1800"/>
          </a:p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Why Existing Solutions Fall Short</a:t>
            </a:r>
            <a:endParaRPr sz="1800"/>
          </a:p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8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Reviewed tools address payments or savings, not the full family-governed ledger.</a:t>
            </a:r>
            <a:endParaRPr sz="1800"/>
          </a:p>
        </p:txBody>
      </p:sp>
      <p:pic>
        <p:nvPicPr>
          <p:cNvPr id="2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8c95d79b1a4fe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52360" y="133350"/>
            <a:ext cx="1463040" cy="56159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9768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6D8965-CAED-4430-998A-33B68983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0040"/>
            <a:ext cx="64008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12700">
            <a:solidFill>
              <a:srgbClr val="C039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D84BAF8-C3C6-4B7B-A142-7BF16FFB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4320"/>
            <a:ext cx="62179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Aim and Study Objectives</a:t>
            </a:r>
            <a:endParaRPr sz="28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02DCD694-490B-4AF3-9B87-3C32D21C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914400"/>
            <a:ext cx="832104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4C6C237-96CA-445D-925E-66048AF7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54880"/>
            <a:ext cx="365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3</a:t>
            </a:r>
            <a:endParaRPr sz="9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48E23671-9163-4246-9682-DCAD3E16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156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Aim</a:t>
            </a:r>
            <a:endParaRPr sz="18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50F4BA3-14A2-421D-BDD7-D98F7011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3312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 design and implement FamilyFunds, an AI-enhanced multi-tenant web application for secure and transparent family contribution management.</a:t>
            </a:r>
            <a:endParaRPr sz="18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F22C156B-854B-44F3-B6FE-810E34D7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993392"/>
            <a:ext cx="832104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12700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A77E18E-51CE-4B38-ABA5-A03265F8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84832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Specific Objectives</a:t>
            </a:r>
            <a:endParaRPr sz="18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412F500-B21E-4606-AFBD-5223A8D6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3160"/>
            <a:ext cx="8229600" cy="2377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  <a:defRPr sz="15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  Analyse family-fund practice and existing tools.</a:t>
            </a:r>
            <a:endParaRPr sz="1800"/>
          </a:p>
          <a:p xmlns:a="http://schemas.openxmlformats.org/drawingml/2006/main">
            <a:pPr marL="0" indent="0">
              <a:lnSpc>
                <a:spcPct val="100000"/>
              </a:lnSpc>
              <a:buNone/>
              <a:defRPr sz="15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  Design multi-tenant data, role and security controls.</a:t>
            </a:r>
            <a:endParaRPr sz="1800"/>
          </a:p>
          <a:p xmlns:a="http://schemas.openxmlformats.org/drawingml/2006/main">
            <a:pPr marL="0" indent="0">
              <a:lnSpc>
                <a:spcPct val="100000"/>
              </a:lnSpc>
              <a:buNone/>
              <a:defRPr sz="15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3.  Implement contributions, payments, expenses and reports.</a:t>
            </a:r>
            <a:endParaRPr sz="1800"/>
          </a:p>
          <a:p xmlns:a="http://schemas.openxmlformats.org/drawingml/2006/main">
            <a:pPr marL="0" indent="0">
              <a:lnSpc>
                <a:spcPct val="100000"/>
              </a:lnSpc>
              <a:buNone/>
              <a:defRPr sz="15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4.  Integrate controlled, confirmation-first AI assistance.</a:t>
            </a:r>
            <a:endParaRPr sz="1800"/>
          </a:p>
          <a:p xmlns:a="http://schemas.openxmlformats.org/drawingml/2006/main">
            <a:pPr marL="0" indent="0">
              <a:lnSpc>
                <a:spcPct val="100000"/>
              </a:lnSpc>
              <a:buNone/>
              <a:defRPr sz="15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5.  Implement activation-gated logistic regression; evaluate only with authorised data.</a:t>
            </a:r>
            <a:endParaRPr sz="1800"/>
          </a:p>
          <a:p xmlns:a="http://schemas.openxmlformats.org/drawingml/2006/main">
            <a:pPr marL="0" indent="0">
              <a:lnSpc>
                <a:spcPct val="100000"/>
              </a:lnSpc>
              <a:buNone/>
              <a:defRPr sz="15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6.  Test functionality, security, reliability and usability.</a:t>
            </a:r>
            <a:endParaRPr sz="1800"/>
          </a:p>
        </p:txBody>
      </p:sp>
      <p:pic>
        <p:nvPicPr>
          <p:cNvPr id="22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577d5e4d3b47e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52360" y="133350"/>
            <a:ext cx="1463040" cy="56159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534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41AF5C1-FEF2-43BC-92F1-31E2F98A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0040"/>
            <a:ext cx="64008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12700">
            <a:solidFill>
              <a:srgbClr val="C039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77882E7-9E4F-4B1C-8E56-888D607D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4320"/>
            <a:ext cx="62179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Scope and Evidence Boundaries</a:t>
            </a:r>
            <a:endParaRPr sz="28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E9098B23-C3F2-460F-BF5F-C0C6F35B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914400"/>
            <a:ext cx="832104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04DA2B8-2FD1-44D6-AEEC-162C0F37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54880"/>
            <a:ext cx="365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4</a:t>
            </a:r>
            <a:endParaRPr sz="9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3AE2CBE9-62D6-4B6C-9384-E1CE0DAF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51560"/>
            <a:ext cx="39319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B7A0B59-F6F7-45EF-A1C6-65CDB520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51560"/>
            <a:ext cx="3931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SCOPE</a:t>
            </a:r>
            <a:endParaRPr sz="13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CF83DD8-7D97-4953-AA96-EF625118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54480"/>
            <a:ext cx="3840480" cy="320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  <a:defRPr sz="13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Multi-tenant workspaces, roles and subscription gates</a:t>
            </a:r>
            <a:endParaRPr sz="1800"/>
          </a:p>
          <a:p xmlns:a="http://schemas.openxmlformats.org/drawingml/2006/main">
            <a:pPr marL="0" indent="0">
              <a:lnSpc>
                <a:spcPct val="100000"/>
              </a:lnSpc>
              <a:buNone/>
              <a:defRPr sz="13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Contributions, oldest-first allocation and receipts</a:t>
            </a:r>
            <a:endParaRPr sz="1800"/>
          </a:p>
          <a:p xmlns:a="http://schemas.openxmlformats.org/drawingml/2006/main">
            <a:pPr marL="0" indent="0">
              <a:lnSpc>
                <a:spcPct val="100000"/>
              </a:lnSpc>
              <a:buNone/>
              <a:defRPr sz="13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Expenses, adjustments, reports and reconciliation</a:t>
            </a:r>
            <a:endParaRPr sz="1800"/>
          </a:p>
          <a:p xmlns:a="http://schemas.openxmlformats.org/drawingml/2006/main">
            <a:pPr marL="0" indent="0">
              <a:lnSpc>
                <a:spcPct val="100000"/>
              </a:lnSpc>
              <a:buNone/>
              <a:defRPr sz="13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Controlled AI and officer-only risk infrastructure</a:t>
            </a:r>
            <a:endParaRPr sz="18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373550E-CBC3-41E4-9219-27056841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051560"/>
            <a:ext cx="39319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12700">
            <a:solidFill>
              <a:srgbClr val="C039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897E713-E8B0-458F-ACB8-D9D4600F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051560"/>
            <a:ext cx="3931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LIMITATIONS</a:t>
            </a:r>
            <a:endParaRPr sz="13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6224F49-1C57-439B-8086-F2B8EFE5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554480"/>
            <a:ext cx="3840480" cy="320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  <a:defRPr sz="13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No authorised CSV; no trained or active risk model</a:t>
            </a:r>
            <a:endParaRPr sz="1800"/>
          </a:p>
          <a:p xmlns:a="http://schemas.openxmlformats.org/drawingml/2006/main">
            <a:pPr marL="0" indent="0">
              <a:lnSpc>
                <a:spcPct val="100000"/>
              </a:lnSpc>
              <a:buNone/>
              <a:defRPr sz="13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No fresh hosted SHA, benchmark or recovery drill</a:t>
            </a:r>
            <a:endParaRPr sz="1800"/>
          </a:p>
          <a:p xmlns:a="http://schemas.openxmlformats.org/drawingml/2006/main">
            <a:pPr marL="0" indent="0">
              <a:lnSpc>
                <a:spcPct val="100000"/>
              </a:lnSpc>
              <a:buNone/>
              <a:defRPr sz="13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No live Paystack, messaging or AI-provider acceptance</a:t>
            </a:r>
            <a:endParaRPr sz="1800"/>
          </a:p>
          <a:p xmlns:a="http://schemas.openxmlformats.org/drawingml/2006/main">
            <a:pPr marL="0" indent="0">
              <a:lnSpc>
                <a:spcPct val="100000"/>
              </a:lnSpc>
              <a:buNone/>
              <a:defRPr sz="13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No native mobile app or longitudinal user study</a:t>
            </a:r>
            <a:endParaRPr sz="18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113AB4D-F4F3-41B0-89BC-4CA87A30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051560"/>
            <a:ext cx="0" cy="3703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d212e7eec4402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52360" y="133350"/>
            <a:ext cx="1463040" cy="56159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310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A1D26F6-DF50-4155-BF13-F1B501B5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0040"/>
            <a:ext cx="64008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12700">
            <a:solidFill>
              <a:srgbClr val="C039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3BED474-7B4C-4FC7-997D-17A1C700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4320"/>
            <a:ext cx="62179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Reviewed Tools: Governance Gap</a:t>
            </a:r>
            <a:endParaRPr sz="28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CB27C349-D23B-4DA1-B436-5A3D053F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914400"/>
            <a:ext cx="832104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4B66523-C5BF-4E45-8AAD-A64B1D07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54880"/>
            <a:ext cx="365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5</a:t>
            </a:r>
            <a:endParaRPr sz="9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706DFDC4-127A-42F0-947A-EC432207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78992"/>
            <a:ext cx="8321040" cy="1170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2700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7A8E778-AA0C-4EA6-BC7C-41201A07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78992"/>
            <a:ext cx="64008" cy="1170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9FCB6FAF-646E-4C2F-B90B-E5548F5A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37160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C4B6E94-D146-4F8F-9929-DF43440E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37160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3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4501C53C-898C-45E4-A825-8F934D4D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1152144"/>
            <a:ext cx="7132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Notebook, Chat and Spreadsheet</a:t>
            </a:r>
            <a:endParaRPr sz="14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B5F0B78-2CAD-49D8-9D60-784E08E5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1463040"/>
            <a:ext cx="7132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Flexible and familiar, but manual entry, weak access boundaries and fragmented balances limit auditability.</a:t>
            </a:r>
            <a:endParaRPr sz="13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6C161DD0-88C4-42F8-94A9-413D3D9F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377440"/>
            <a:ext cx="8321040" cy="1170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2700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0C816F8-DE2D-4343-812C-F046118B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377440"/>
            <a:ext cx="64008" cy="1170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D30690B-D213-432E-9837-3FF7D074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67004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92AE3926-FCDC-4A5E-85AA-E678B0FB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67004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3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8FC19EA2-3258-4E11-B541-39A48166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2450592"/>
            <a:ext cx="7132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Consumer Savings and Payment Apps</a:t>
            </a:r>
            <a:endParaRPr sz="14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99D8F72-64EB-4247-A754-7853373D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2761488"/>
            <a:ext cx="7132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Effective for personal saving or collections, but they do not model family-defined obligations, roles and allocation rules.</a:t>
            </a:r>
            <a:endParaRPr sz="130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9F48E2E-804F-47D2-AEA3-FBF35A5A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675888"/>
            <a:ext cx="8321040" cy="1170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2700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D5F8A5BC-EBC2-4CC0-BF6E-61587063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675888"/>
            <a:ext cx="64008" cy="1170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C0F4A82F-5490-4E41-87AC-C3BCE828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96849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8E0E20F8-76B3-48F3-869B-7B6951F2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96849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3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5C4FE2A7-77C5-43B0-A6C2-36C7552E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3749040"/>
            <a:ext cx="7132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Formal Cooperative Platforms</a:t>
            </a:r>
            <a:endParaRPr sz="14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D807B446-AB0F-412A-B891-8A53AB94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4059936"/>
            <a:ext cx="7132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Structured and auditable, but designed for institution-led schemes rather than flexible family membership and governance.</a:t>
            </a:r>
            <a:endParaRPr sz="1300"/>
          </a:p>
        </p:txBody>
      </p:sp>
      <p:pic>
        <p:nvPicPr>
          <p:cNvPr id="4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0b09ed80ec488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52360" y="133350"/>
            <a:ext cx="1463040" cy="56159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3173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DB38711-BC56-4E77-91AB-A8B0C49A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0040"/>
            <a:ext cx="64008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12700">
            <a:solidFill>
              <a:srgbClr val="C039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CE3E483-F897-4AF5-9191-E0CC083A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4320"/>
            <a:ext cx="62179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FamilyFunds: A Governed Ledger</a:t>
            </a:r>
            <a:endParaRPr sz="28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EC8ACFC-9EFA-498F-9F3D-22F2A940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914400"/>
            <a:ext cx="832104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09C03EA-7369-452F-BDA9-5E80DFBF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54880"/>
            <a:ext cx="365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6</a:t>
            </a:r>
            <a:endParaRPr sz="9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AE9B57C1-13C8-4510-B0D7-5D7493D9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51560"/>
            <a:ext cx="8321040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A"/>
          </a:solidFill>
          <a:ln xmlns:a="http://schemas.openxmlformats.org/drawingml/2006/main" w="12700">
            <a:solidFill>
              <a:srgbClr val="1F5C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A8D5ED3A-450C-4A24-A89F-2368E379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51560"/>
            <a:ext cx="73152" cy="1051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CD91D61-A9A8-40EA-A0CA-DA1D0476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78992"/>
            <a:ext cx="7955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Implemented System</a:t>
            </a:r>
            <a:endParaRPr sz="13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E3F5299-322C-4375-B619-EE3C7F09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371600"/>
            <a:ext cx="79552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FamilyFunds gives each family an isolated workspace. Members see only their own records; authorised officers manage the shared ledger.</a:t>
            </a:r>
            <a:endParaRPr sz="18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8B54C8C5-EF1A-466A-B8A1-875DDDCB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0280"/>
            <a:ext cx="402336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Core Financial Workflow</a:t>
            </a:r>
            <a:endParaRPr sz="1800"/>
          </a:p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8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Family membership, officer roles and secure access</a:t>
            </a:r>
            <a:endParaRPr sz="1800"/>
          </a:p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8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Contributions, oldest-first allocation and receipts</a:t>
            </a:r>
            <a:endParaRPr sz="1800"/>
          </a:p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8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Expenses, adjustments, reports and reconciliation</a:t>
            </a:r>
            <a:endParaRPr sz="18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9BB9611-25A7-4D6E-90C2-BB634DA1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240280"/>
            <a:ext cx="402336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Governed Intelligence</a:t>
            </a:r>
            <a:endParaRPr sz="1800"/>
          </a:p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8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AI reads only through permitted application tools</a:t>
            </a:r>
            <a:endParaRPr sz="1800"/>
          </a:p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8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Officer writes require preview and explicit confirmation</a:t>
            </a:r>
            <a:endParaRPr sz="1800"/>
          </a:p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8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Payment-risk scoring is officer-only and activation-gated</a:t>
            </a:r>
            <a:endParaRPr sz="18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2A0F1DA7-1090-4237-91CE-3D1DF34E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240280"/>
            <a:ext cx="0" cy="2468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4d0ce3edc8472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52360" y="133350"/>
            <a:ext cx="1463040" cy="56159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2008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3BDB4C6-5A15-4FEA-A1BE-B029F8A3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0040"/>
            <a:ext cx="64008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12700">
            <a:solidFill>
              <a:srgbClr val="C039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3D21416-4205-43BA-ACA3-7A306C46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4320"/>
            <a:ext cx="62179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Method and Evaluation</a:t>
            </a:r>
            <a:endParaRPr sz="28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BEFEE56F-4967-4565-9D6C-27294379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914400"/>
            <a:ext cx="832104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FFB6807-0A3E-4816-B176-E765DF56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54880"/>
            <a:ext cx="365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7</a:t>
            </a:r>
            <a:endParaRPr sz="9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12B3C0F-F712-4AE2-B1B2-57CACD72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78992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Development Approach</a:t>
            </a:r>
            <a:endParaRPr sz="18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34F7D8D-DEA8-4E60-8F05-7546B824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Agile iterations moved from discovery to build and automated validation; reconciliation was recorded as a post-design audit extension.</a:t>
            </a:r>
            <a:endParaRPr sz="18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4FF7F2A3-A938-43D5-89FF-88B314D8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874520"/>
            <a:ext cx="832104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12700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AD3020F-93EE-489C-A444-2484507C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596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Verified Environment</a:t>
            </a:r>
            <a:endParaRPr sz="18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A9ECEA33-E58A-4E5C-A5B6-56DB83EB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7440"/>
            <a:ext cx="42062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2700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115DF87-BF26-4A89-B38E-21DBFB05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32304"/>
            <a:ext cx="39867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Backend Runtime</a:t>
            </a:r>
            <a:endParaRPr sz="10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17A4996E-2C48-45BD-AD2D-39476501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88336"/>
            <a:ext cx="39867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PHP 8.5.8 · Laravel 13.24.0</a:t>
            </a:r>
            <a:endParaRPr sz="12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EEEF472-A770-4126-B23F-A52629E6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377440"/>
            <a:ext cx="42062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2700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E8C1BCA-6845-476A-8509-48DA6B5D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432304"/>
            <a:ext cx="39867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Frontend</a:t>
            </a:r>
            <a:endParaRPr sz="10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D54AA1C-7B72-4D3A-84F6-9661C9CC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688336"/>
            <a:ext cx="39867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Vue 3.5.41 · Inertia Vue 3.6.1</a:t>
            </a:r>
            <a:endParaRPr sz="12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2DFC6813-467F-48DC-B766-6BF03632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27248"/>
            <a:ext cx="42062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2700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91E4FAB0-6059-473F-A817-6CC87CB0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182112"/>
            <a:ext cx="39867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Database</a:t>
            </a:r>
            <a:endParaRPr sz="10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7522F013-1846-4E29-A104-D916008B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38144"/>
            <a:ext cx="39867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PostgreSQL 18.4</a:t>
            </a:r>
            <a:endParaRPr sz="12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DF7540C3-6C00-4BB7-9550-E311AC6A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127248"/>
            <a:ext cx="42062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2700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E2AC0597-3A84-4BBD-8924-4C8423ED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3182112"/>
            <a:ext cx="39867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ML Package</a:t>
            </a:r>
            <a:endParaRPr sz="10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3CCD0FC-3E65-4601-AAED-3016BCC4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3438144"/>
            <a:ext cx="39867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Python 3.12.3 · scikit-learn 1.7.2</a:t>
            </a:r>
            <a:endParaRPr sz="12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1C0C4691-4302-4405-8A9F-3AF7A353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77056"/>
            <a:ext cx="42062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2700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EEFFA51A-E631-4041-8001-EF0B5120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31920"/>
            <a:ext cx="39867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Build and Quality</a:t>
            </a:r>
            <a:endParaRPr sz="100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30FF0F89-B800-4828-8239-4DA035DD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87952"/>
            <a:ext cx="39867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Composer · npm/Vite · Pint · PHPStan</a:t>
            </a:r>
            <a:endParaRPr sz="12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DDA8FA21-4C10-432B-B085-8B064313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877056"/>
            <a:ext cx="42062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2700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498AC43E-C541-46F1-B2DC-F91C4359D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3931920"/>
            <a:ext cx="398678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Testing</a:t>
            </a:r>
            <a:endParaRPr sz="10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48CC29A6-62C1-4023-80C2-F844FFF8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4187952"/>
            <a:ext cx="39867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Pest · pytest · PostgreSQL · Chromium</a:t>
            </a:r>
            <a:endParaRPr sz="1200"/>
          </a:p>
        </p:txBody>
      </p:sp>
      <p:pic>
        <p:nvPicPr>
          <p:cNvPr id="5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16a12a59d34b8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52360" y="133350"/>
            <a:ext cx="1463040" cy="56159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571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EDF1035-B1DD-48C0-BF54-D781F3D3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0040"/>
            <a:ext cx="64008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12700">
            <a:solidFill>
              <a:srgbClr val="C039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DE9A61C-78EB-4543-A3A1-C1F9688C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4320"/>
            <a:ext cx="62179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System Design and Control Flows</a:t>
            </a:r>
            <a:endParaRPr sz="28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00FC34A5-784B-4381-AC7A-463BC67C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914400"/>
            <a:ext cx="832104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0ED1AEF-4605-4C54-99DB-2BEF7DA3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54880"/>
            <a:ext cx="365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8</a:t>
            </a:r>
            <a:endParaRPr sz="9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BADB0047-01B6-4925-9A1A-61456A14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78992"/>
            <a:ext cx="26060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8C488FE-2802-436D-87A5-B3705D99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78992"/>
            <a:ext cx="2606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Application Architecture</a:t>
            </a:r>
            <a:endParaRPr sz="11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2E0277F3-32C2-4E62-AD1A-D9A07368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399032"/>
            <a:ext cx="2606040" cy="3337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2700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C9BFC8A9-F93B-495C-BE1E-9A1F377F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4370832"/>
            <a:ext cx="240487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i="1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Tenant context, policies and domain services govern every external event.</a:t>
            </a:r>
            <a:endParaRPr sz="85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688355F2-E871-401E-A875-34D23CD0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078992"/>
            <a:ext cx="26060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316B091A-E9B2-4437-9396-8B0DD095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078992"/>
            <a:ext cx="2606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Role and Use Cases</a:t>
            </a:r>
            <a:endParaRPr sz="11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50EDBC7-B826-453B-846C-663F6E7F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399032"/>
            <a:ext cx="2606040" cy="3337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2700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0722E37-9D60-45D5-8ED9-F96C9A8E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48" y="4370832"/>
            <a:ext cx="240487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i="1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Members view their own data; officers receive scoped operational access.</a:t>
            </a:r>
            <a:endParaRPr sz="8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99230568-2D85-4688-840F-C184A5F1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078992"/>
            <a:ext cx="26060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81FFD237-F1FC-4BC3-A26E-BBDD6E3E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078992"/>
            <a:ext cx="2606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Oldest-First Allocation</a:t>
            </a:r>
            <a:endParaRPr sz="110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B2AC0ABC-2651-4954-BDE1-62F64356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399032"/>
            <a:ext cx="2606040" cy="3337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2700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86D0668-3032-4E27-8865-6BAEFB37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4370832"/>
            <a:ext cx="240487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i="1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Open obligations are locked and paid chronologically in one transaction.</a:t>
            </a:r>
            <a:endParaRPr sz="850"/>
          </a:p>
        </p:txBody>
      </p:sp>
      <p:pic>
        <p:nvPicPr>
          <p:cNvPr id="5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9175825fb34c3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52360" y="133350"/>
            <a:ext cx="1463040" cy="561594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AA8A9E-A31C-40F1-8114-51E173DA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18288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1430">
            <a:solidFill>
              <a:srgbClr val="AAB5C4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050" b="1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Member and officer UI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050" b="1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Vue + Inertia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69B225-64C5-4EFC-AAA4-D6051893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18288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11430">
            <a:solidFill>
              <a:srgbClr val="AAB5C4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050" b="1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Laravel application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050" b="1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Family context + policies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FA506B-BFE8-4221-87E5-023717C4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18288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DF2F0"/>
          </a:solidFill>
          <a:ln xmlns:a="http://schemas.openxmlformats.org/drawingml/2006/main" w="11430">
            <a:solidFill>
              <a:srgbClr val="AAB5C4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050" b="1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Ledger and adapters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050" b="1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PostgreSQL · Paystack · AI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C6837D-4763-41AF-A88E-D742B287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286000"/>
            <a:ext cx="3048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A8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536A80"/>
                </a:solidFill>
                <a:latin typeface="Calibri"/>
                <a:ea typeface="Calibri"/>
                <a:cs typeface="Calibri"/>
              </a:rPr>
              <a:t>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AC1C3E-D2DB-4551-B259-C9089248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48000"/>
            <a:ext cx="3048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A8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536A80"/>
                </a:solidFill>
                <a:latin typeface="Calibri"/>
                <a:ea typeface="Calibri"/>
                <a:cs typeface="Calibri"/>
              </a:rPr>
              <a:t>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FABBB1-B910-4CD4-8DFE-9DA4593D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695450"/>
            <a:ext cx="1809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1430">
            <a:solidFill>
              <a:srgbClr val="AAB5C4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050" b="1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Member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050" b="1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Own records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175043-4766-4BFE-B09F-047C3007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09800"/>
            <a:ext cx="1809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11430">
            <a:solidFill>
              <a:srgbClr val="AAB5C4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050" b="1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Family administrator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050" b="1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Family operations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665D2F-47D3-4C6C-AD82-B69F9A69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24150"/>
            <a:ext cx="1809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EF7EE"/>
          </a:solidFill>
          <a:ln xmlns:a="http://schemas.openxmlformats.org/drawingml/2006/main" w="11430">
            <a:solidFill>
              <a:srgbClr val="AAB5C4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050" b="1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Financial secretary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050" b="1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Finance operations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5D49DE-4418-4AD1-AC21-31E3D38B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38500"/>
            <a:ext cx="1809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AAB5C4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050" b="1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Platform administrator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050" b="1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Platform-wide oversight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0E00F2-5D07-43F2-BDF4-DD5EBAFB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52850"/>
            <a:ext cx="1962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A3A5C"/>
          </a:solidFill>
          <a:ln xmlns:a="http://schemas.openxmlformats.org/drawingml/2006/main" w="11430">
            <a:solidFill>
              <a:srgbClr val="AAB5C4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Every family-ledger request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938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38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passes context + policy checks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176588-F267-41C2-B2AE-600AAEEE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95450"/>
            <a:ext cx="1809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1430">
            <a:solidFill>
              <a:srgbClr val="AAB5C4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050" b="1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Validate amount, role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050" b="1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and family context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52C3AD-EE2D-422D-9B02-FD42568D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1809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11430">
            <a:solidFill>
              <a:srgbClr val="AAB5C4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050" b="1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Lock open obligations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050" b="1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inside one transaction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298D18-49DB-472B-99DA-D5D2C652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76550"/>
            <a:ext cx="1809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EF7EE"/>
          </a:solidFill>
          <a:ln xmlns:a="http://schemas.openxmlformats.org/drawingml/2006/main" w="11430">
            <a:solidFill>
              <a:srgbClr val="AAB5C4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050" b="1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Allocate to the oldest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050" b="1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outstanding balance first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64CB220-FCCC-456B-A817-4C1103C8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67100"/>
            <a:ext cx="1809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DF2F0"/>
          </a:solidFill>
          <a:ln xmlns:a="http://schemas.openxmlformats.org/drawingml/2006/main" w="11430">
            <a:solidFill>
              <a:srgbClr val="AAB5C4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050" b="1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Commit ledger entries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050" b="1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and issue the receipt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004D53-FA5C-492F-A05A-7227984B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114550"/>
            <a:ext cx="3048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A8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536A80"/>
                </a:solidFill>
                <a:latin typeface="Calibri"/>
                <a:ea typeface="Calibri"/>
                <a:cs typeface="Calibri"/>
              </a:rPr>
              <a:t>↓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40B42C-3ECD-4C6A-B52A-128C84A1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705100"/>
            <a:ext cx="3048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A8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536A80"/>
                </a:solidFill>
                <a:latin typeface="Calibri"/>
                <a:ea typeface="Calibri"/>
                <a:cs typeface="Calibri"/>
              </a:rPr>
              <a:t>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135D12-B881-42EC-B816-D540C4F2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295650"/>
            <a:ext cx="3048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A8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536A80"/>
                </a:solidFill>
                <a:latin typeface="Calibri"/>
                <a:ea typeface="Calibri"/>
                <a:cs typeface="Calibri"/>
              </a:rPr>
              <a:t>↓</a:t>
            </a:r>
          </a:p>
        </p:txBody>
      </p:sp>
    </p:spTree>
    <p:extLst>
      <p:ext uri="{BB962C8B-B14F-4D97-AF65-F5344CB8AC3E}">
        <p14:creationId xmlns:p14="http://schemas.microsoft.com/office/powerpoint/2010/main" val="7119001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0A6E2E3-9431-427B-99F2-24ECDA30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0040"/>
            <a:ext cx="64008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12700">
            <a:solidFill>
              <a:srgbClr val="C039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1E902D2-F73B-48CD-82C7-89AF44C5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4320"/>
            <a:ext cx="62179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Implemented Product Evidence</a:t>
            </a:r>
            <a:endParaRPr sz="28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A93B0F84-B7C0-4CF3-A912-B5645AA0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914400"/>
            <a:ext cx="832104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DB81EF4-DD34-4EEF-AA80-932F83F5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54880"/>
            <a:ext cx="365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9</a:t>
            </a:r>
            <a:endParaRPr sz="900"/>
          </a:p>
        </p:txBody>
      </p:sp>
      <p:pic>
        <p:nvPicPr>
          <p:cNvPr id="2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b494e1b2b149a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52360" y="133350"/>
            <a:ext cx="1463040" cy="561594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74B8D6-DC5B-43FA-883F-306E085F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85875"/>
            <a:ext cx="2571750" cy="32385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12383">
            <a:solidFill>
              <a:srgbClr val="1D5F91"/>
            </a:solidFill>
            <a:prstDash val="solid"/>
          </a:ln>
        </p:spPr>
        <p:txBody>
          <a:bodyPr xmlns:a="http://schemas.openxmlformats.org/drawingml/2006/main" lIns="142875" tIns="133350" rIns="142875" bIns="133350" anchor="ctr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63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163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EVIDENCE BOUNDARY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163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163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20 redacted screenshots from the synthetic tenant.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163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163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Captured workflows include dashboards, payments, reports and a seeded AI conversation.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163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163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No live provider call was made, and prediction remains unavailable without a validated model.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1f49122b0144ee"/>
          <a:stretch xmlns:a="http://schemas.openxmlformats.org/drawingml/2006/main"/>
        </p:blipFill>
        <p:spPr>
          <a:xfrm xmlns:a="http://schemas.openxmlformats.org/drawingml/2006/main">
            <a:off x="3386138" y="1285875"/>
            <a:ext cx="5181600" cy="32385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1B65D8-A5A5-416E-BFA3-B7596B67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543425"/>
            <a:ext cx="5191125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i="1">
                <a:solidFill>
                  <a:srgbClr val="69798B"/>
                </a:solidFill>
                <a:latin typeface="Calibri"/>
                <a:ea typeface="Calibri"/>
                <a:cs typeface="Calibri"/>
              </a:defRPr>
            </a:pPr>
            <a:r>
              <a:rPr sz="975" i="1">
                <a:solidFill>
                  <a:srgbClr val="69798B"/>
                </a:solidFill>
                <a:latin typeface="Calibri"/>
                <a:ea typeface="Calibri"/>
                <a:cs typeface="Calibri"/>
              </a:rPr>
              <a:t>Officer dashboard — redacted synthetic development tenant</a:t>
            </a:r>
          </a:p>
        </p:txBody>
      </p:sp>
    </p:spTree>
    <p:extLst>
      <p:ext uri="{BB962C8B-B14F-4D97-AF65-F5344CB8AC3E}">
        <p14:creationId xmlns:p14="http://schemas.microsoft.com/office/powerpoint/2010/main" val="13779826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B415D45-3144-4A47-82E2-20F87CD4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0040"/>
            <a:ext cx="64008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12700">
            <a:solidFill>
              <a:srgbClr val="C039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655FBC6-A7F3-410B-B2B3-950C6911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4320"/>
            <a:ext cx="62179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Executed Tests and Evidence Gaps</a:t>
            </a:r>
            <a:endParaRPr sz="28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E2BBDFEE-85ED-40CB-AF87-7234FD6A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914400"/>
            <a:ext cx="832104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DFA5B05-91DB-487A-9CEA-551560E9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54880"/>
            <a:ext cx="365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10</a:t>
            </a:r>
            <a:endParaRPr sz="900"/>
          </a:p>
        </p:txBody>
      </p:sp>
      <p:graphicFrame>
        <p:nvGraphicFramePr>
          <p:cNvPr id="15" name="Table 0"/>
          <p:cNvGraphicFramePr/>
          <p:nvPr/>
        </p:nvGraphicFramePr>
        <p:xfrm>
          <a:off xmlns:a="http://schemas.openxmlformats.org/drawingml/2006/main" x="411480" y="1051560"/>
          <a:ext xmlns:a="http://schemas.openxmlformats.org/drawingml/2006/main" cx="8321040" cy="285292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71600"/>
                <a:gridCol w="3200400"/>
                <a:gridCol w="1188720"/>
                <a:gridCol w="1280160"/>
                <a:gridCol w="1280160"/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Evidence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Executed Result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Coverage / Gate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Status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Meaning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1A3A5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rgbClr val="1A3A5C"/>
                          </a:solidFill>
                          <a:latin typeface="Calibri"/>
                          <a:ea typeface="Calibri"/>
                          <a:cs typeface="Calibri"/>
                        </a:rPr>
                        <a:t>PHP / Pest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1,421 tests / 6,904 assertions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100.0% PHP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PASS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Canonical local gate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rgbClr val="1A3A5C"/>
                          </a:solidFill>
                          <a:latin typeface="Calibri"/>
                          <a:ea typeface="Calibri"/>
                          <a:cs typeface="Calibri"/>
                        </a:rPr>
                        <a:t>Python ML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66 tests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100% statements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PASS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Offline package contract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F5F6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rgbClr val="1A3A5C"/>
                          </a:solidFill>
                          <a:latin typeface="Calibri"/>
                          <a:ea typeface="Calibri"/>
                          <a:cs typeface="Calibri"/>
                        </a:rPr>
                        <a:t>PostgreSQL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138 tests / 440 assertions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Disposable DB smoke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PASS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PostgreSQL integration path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rgbClr val="1A3A5C"/>
                          </a:solidFill>
                          <a:latin typeface="Calibri"/>
                          <a:ea typeface="Calibri"/>
                          <a:cs typeface="Calibri"/>
                        </a:rPr>
                        <a:t>Chromium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5 tests / 82 assertions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Browser acceptance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PASS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Roles, mobile, a11y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F5F6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rgbClr val="1A3A5C"/>
                          </a:solidFill>
                          <a:latin typeface="Calibri"/>
                          <a:ea typeface="Calibri"/>
                          <a:cs typeface="Calibri"/>
                        </a:rPr>
                        <a:t>Final external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CSV / hosted / live NFRs absent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Required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PENDING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</a:rPr>
                        <a:t>Claims remain gated</a:t>
                      </a:r>
                      <a:endParaRPr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>
                    <a:lnL w="6350" cmpd="sng">
                      <a:solidFill>
                        <a:srgbClr val="D1D5DB"/>
                      </a:solidFill>
                      <a:prstDash val="solid"/>
                    </a:lnL>
                    <a:lnR w="6350" cmpd="sng">
                      <a:solidFill>
                        <a:srgbClr val="D1D5DB"/>
                      </a:solidFill>
                      <a:prstDash val="solid"/>
                    </a:lnR>
                    <a:lnT w="6350" cmpd="sng">
                      <a:solidFill>
                        <a:srgbClr val="D1D5DB"/>
                      </a:solidFill>
                      <a:prstDash val="solid"/>
                    </a:lnT>
                    <a:lnB w="6350" cmpd="sng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0F2E83E0-86AA-41BE-9136-24C29319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788" i="1">
                <a:solidFill>
                  <a:srgbClr val="58697B"/>
                </a:solidFill>
                <a:latin typeface="Calibri"/>
                <a:ea typeface="Calibri"/>
                <a:cs typeface="Calibri"/>
              </a:defRPr>
            </a:pPr>
            <a:r>
              <a:rPr sz="788" i="1">
                <a:solidFill>
                  <a:srgbClr val="58697B"/>
                </a:solidFill>
                <a:latin typeface="Calibri"/>
                <a:ea typeface="Calibri"/>
                <a:cs typeface="Calibri"/>
              </a:rPr>
              <a:t>15 Aug 2026 local run · Pest 22.209 s · Focused runs overlap · No fresh post-change hosted SHA.</a:t>
            </a:r>
            <a:endParaRPr sz="950"/>
          </a:p>
        </p:txBody>
      </p:sp>
      <p:pic>
        <p:nvPicPr>
          <p:cNvPr id="17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91248448db477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52360" y="133350"/>
            <a:ext cx="1463040" cy="56159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9834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A1D26F6-DF50-4155-BF13-F1B501B5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0040"/>
            <a:ext cx="64008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12700">
            <a:solidFill>
              <a:srgbClr val="C039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3BED474-7B4C-4FC7-997D-17A1C700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4320"/>
            <a:ext cx="62179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Selected References</a:t>
            </a:r>
            <a:endParaRPr sz="28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CB27C349-D23B-4DA1-B436-5A3D053F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914400"/>
            <a:ext cx="832104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4B66523-C5BF-4E45-8AAD-A64B1D07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54880"/>
            <a:ext cx="365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11</a:t>
            </a:r>
            <a:endParaRPr sz="9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706DFDC4-127A-42F0-947A-EC432207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78992"/>
            <a:ext cx="8321040" cy="1170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2700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7A8E778-AA0C-4EA6-BC7C-41201A07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78992"/>
            <a:ext cx="64008" cy="1170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9FCB6FAF-646E-4C2F-B90B-E5548F5A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37160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C4B6E94-D146-4F8F-9929-DF43440E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37160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3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4501C53C-898C-45E4-A825-8F934D4D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1152144"/>
            <a:ext cx="7132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Informal Family Finance</a:t>
            </a:r>
            <a:endParaRPr sz="14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B5F0B78-2CAD-49D8-9D60-784E08E5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1463040"/>
            <a:ext cx="7132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Bascom (1952); Anderson and Baland (2002); EFInA (2023); Wezel and Ree (2023).</a:t>
            </a:r>
            <a:endParaRPr sz="13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6C161DD0-88C4-42F8-94A9-413D3D9F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377440"/>
            <a:ext cx="8321040" cy="1170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2700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0C816F8-DE2D-4343-812C-F046118B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377440"/>
            <a:ext cx="64008" cy="1170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D30690B-D213-432E-9837-3FF7D074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67004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92AE3926-FCDC-4A5E-85AA-E678B0FB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67004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3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8FC19EA2-3258-4E11-B541-39A48166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2450592"/>
            <a:ext cx="7132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Multi-Tenancy and Access Control</a:t>
            </a:r>
            <a:endParaRPr sz="14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99D8F72-64EB-4247-A754-7853373D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2761488"/>
            <a:ext cx="7132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Amazon Web Services (2020); Sandhu et al. (1996); Sharma and Kaur (2021); Sommerville (2016).</a:t>
            </a:r>
            <a:endParaRPr sz="130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9F48E2E-804F-47D2-AEA3-FBF35A5A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675888"/>
            <a:ext cx="8321040" cy="1170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2700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D5F8A5BC-EBC2-4CC0-BF6E-61587063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675888"/>
            <a:ext cx="64008" cy="1170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C0F4A82F-5490-4E41-87AC-C3BCE828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96849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8E0E20F8-76B3-48F3-869B-7B6951F2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96849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3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5C4FE2A7-77C5-43B0-A6C2-36C7552E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3749040"/>
            <a:ext cx="7132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Prediction and Cold Start</a:t>
            </a:r>
            <a:endParaRPr sz="14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D807B446-AB0F-412A-B891-8A53AB94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4059936"/>
            <a:ext cx="7132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Khandani et al. (2010); Lessmann et al. (2015); Schein et al. (2002); Thomas (2000).</a:t>
            </a:r>
            <a:endParaRPr sz="1300"/>
          </a:p>
        </p:txBody>
      </p:sp>
      <p:pic>
        <p:nvPicPr>
          <p:cNvPr id="4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b04271cf454bc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52360" y="133350"/>
            <a:ext cx="1463040" cy="56159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3173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66BD8C9-5CD4-4929-8B6B-0CB2ED4D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0040"/>
            <a:ext cx="64008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12700">
            <a:solidFill>
              <a:srgbClr val="C039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89C88D3-4E54-49FC-A90E-DCFD1CC2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4320"/>
            <a:ext cx="62179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Conclusion and Recommendations</a:t>
            </a:r>
            <a:endParaRPr sz="28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BBFFAB86-E9A3-43A2-A2AB-FCA5CC34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914400"/>
            <a:ext cx="8321040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8B6BFBC-B81A-48F0-995F-DF788839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54880"/>
            <a:ext cx="365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12</a:t>
            </a:r>
            <a:endParaRPr sz="9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D2D6C64C-8C4D-44A7-B5DD-7652EB30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51560"/>
            <a:ext cx="832104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2700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61A9157-D69C-46F8-87C5-4609A83C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051560"/>
            <a:ext cx="73152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 w="12700">
            <a:solidFill>
              <a:srgbClr val="1A3A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081EF2C-A7B7-49AF-BE7B-78624361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115568"/>
            <a:ext cx="7955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Measured Conclusion</a:t>
            </a:r>
            <a:endParaRPr sz="12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245DA30-C718-446A-A626-7AA0E0FD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399032"/>
            <a:ext cx="79552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FamilyFunds turns informal contribution practice into governed, traceable records. The conventional application is substantially implemented and locally verified.</a:t>
            </a:r>
            <a:endParaRPr sz="16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465DAC3-10B9-4E41-9AA7-16093C36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148840"/>
            <a:ext cx="832104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2700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BD53FCC-0C88-475A-9E6A-42C01435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148840"/>
            <a:ext cx="73152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8B"/>
          </a:solidFill>
          <a:ln xmlns:a="http://schemas.openxmlformats.org/drawingml/2006/main" w="12700">
            <a:solidFill>
              <a:srgbClr val="1F5C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DB54C5FA-D50A-4504-9C57-70DDDDDC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212848"/>
            <a:ext cx="7955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F5C8B"/>
                </a:solidFill>
                <a:latin typeface="Calibri"/>
                <a:ea typeface="Calibri"/>
                <a:cs typeface="Calibri"/>
              </a:rPr>
              <a:t>Recommended Next Action</a:t>
            </a:r>
            <a:endParaRPr sz="12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6700878E-DF10-46EA-A045-DFAF379B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496312"/>
            <a:ext cx="79552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Complete a fresh hosted run, live integration acceptance, performance testing and a controlled recovery drill before claiming operational readiness.</a:t>
            </a:r>
            <a:endParaRPr sz="16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EA8C3BE1-5317-4DB2-B514-DD858726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46120"/>
            <a:ext cx="832104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2700">
            <a:solidFill>
              <a:srgbClr val="D1D5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EAF3869E-E9B3-45FD-8805-796C8BF3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46120"/>
            <a:ext cx="73152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12700">
            <a:solidFill>
              <a:srgbClr val="C039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971CE317-1893-4B9F-9DB6-84CAB009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310128"/>
            <a:ext cx="7955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Future Work</a:t>
            </a:r>
            <a:endParaRPr sz="12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07A94A19-69EA-41E6-B1D3-0CD9B173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593592"/>
            <a:ext cx="79552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Train and evaluate the risk model only with an authorised private dataset; keep scoring officer-only, advisory and activation-gated.</a:t>
            </a:r>
            <a:endParaRPr sz="16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CFDC8762-1ED0-47D7-B053-259A043C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480560"/>
            <a:ext cx="8321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1">
                <a:solidFill>
                  <a:srgbClr val="1A3A5C"/>
                </a:solidFill>
                <a:latin typeface="Calibri"/>
                <a:ea typeface="Calibri"/>
                <a:cs typeface="Calibri"/>
              </a:defRPr>
            </a:pPr>
            <a:r>
              <a:rPr sz="1650" b="1" spc="100">
                <a:solidFill>
                  <a:srgbClr val="1A3A5C"/>
                </a:solidFill>
                <a:latin typeface="Calibri"/>
                <a:ea typeface="Calibri"/>
                <a:cs typeface="Calibri"/>
              </a:rPr>
              <a:t>Thank you  |  Questions and discussion</a:t>
            </a:r>
            <a:endParaRPr sz="1200"/>
          </a:p>
        </p:txBody>
      </p:sp>
      <p:pic>
        <p:nvPicPr>
          <p:cNvPr id="3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7d76f010a64a1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52360" y="133350"/>
            <a:ext cx="1463040" cy="56159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971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2026-08-15T14:25:15.4780000Z</dcterms:created>
  <dcterms:modified xsi:type="dcterms:W3CDTF">2026-08-15T14:25:15.4780000Z</dcterms:modified>
</coreProperties>
</file>